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3" r:id="rId3"/>
    <p:sldId id="265" r:id="rId4"/>
    <p:sldId id="267" r:id="rId5"/>
    <p:sldId id="269" r:id="rId6"/>
    <p:sldId id="271" r:id="rId7"/>
    <p:sldId id="273" r:id="rId8"/>
    <p:sldId id="275" r:id="rId9"/>
    <p:sldId id="277" r:id="rId10"/>
    <p:sldId id="279" r:id="rId11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35F78C-9F8F-0C44-4F8F-E11345373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58B69D-8F51-8C76-6DFA-F41E607BFD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73EF87-6053-9EA0-2F86-4980EC2D4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0EAD6-900F-4D8A-BA46-CB8AFF023E03}" type="datetimeFigureOut">
              <a:rPr lang="es-CL" smtClean="0"/>
              <a:t>24-06-2026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7A3E87-88C7-32FE-AABF-02478B9D9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F905DD-5B3B-3D2D-715E-0E42B6B30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EDAD7-7608-44C0-86FE-76CBD850CC4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44016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CE0E62-9AA6-4A4C-FB83-6DBDACEE3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120B30-961B-07DF-7F0A-57AD61FE5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510646-9AB7-46BE-0C26-1790D2B56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0EAD6-900F-4D8A-BA46-CB8AFF023E03}" type="datetimeFigureOut">
              <a:rPr lang="es-CL" smtClean="0"/>
              <a:t>24-06-2026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FFA1D9-0098-4460-C9D9-3B82FB466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C50DBC-2E42-2BB2-B50B-E48E27DB6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EDAD7-7608-44C0-86FE-76CBD850CC4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808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28745D-6558-C8B8-64BE-A2EF8039F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314BE22-B826-1A01-D4B4-4DC34928B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7AF7A1-1F66-D621-2BB8-4D8DF2C86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0EAD6-900F-4D8A-BA46-CB8AFF023E03}" type="datetimeFigureOut">
              <a:rPr lang="es-CL" smtClean="0"/>
              <a:t>24-06-2026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983A90-01C7-18C6-0E58-F3614788A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C28B4B-1179-53DD-BB37-C33B7ACE8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EDAD7-7608-44C0-86FE-76CBD850CC4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61639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0794EA-0C7F-335B-D3DC-97BDF07F6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702AC0-E1AF-6B84-D587-EE71274D99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C17AF85-D681-A843-C3FB-84CD7205A7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BFC4F89-512A-12E6-C40D-E01E65453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0EAD6-900F-4D8A-BA46-CB8AFF023E03}" type="datetimeFigureOut">
              <a:rPr lang="es-CL" smtClean="0"/>
              <a:t>24-06-2026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FFBB0D7-2578-E408-AEA4-A73C85168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19A8E02-D476-49B2-E7D4-6FA3F013F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EDAD7-7608-44C0-86FE-76CBD850CC4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98669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64282-C185-107B-D5ED-5B5258D3E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536B88-B97E-BCFD-1A0D-8F3FBA33F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9CCC7E-0778-0DBD-2B9F-7ACC45EE02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C6051D7-FEBB-DA19-E323-4D46A8BBB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D0B5FF3-79D4-C872-7438-E853657688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2A0A8DE-B50A-BB7D-2A0E-30F4AA611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0EAD6-900F-4D8A-BA46-CB8AFF023E03}" type="datetimeFigureOut">
              <a:rPr lang="es-CL" smtClean="0"/>
              <a:t>24-06-2026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21E0397-D9C1-C77E-B2CE-9C4218638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C0F6F0D-2AB8-2E61-230D-0A841A314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EDAD7-7608-44C0-86FE-76CBD850CC4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4624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E9F013-8877-43F9-5F89-A5504DDB2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70A70C4-F103-D964-6611-537064813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0EAD6-900F-4D8A-BA46-CB8AFF023E03}" type="datetimeFigureOut">
              <a:rPr lang="es-CL" smtClean="0"/>
              <a:t>24-06-2026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432496A-2EF2-8D4C-3386-EDBD715AE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FC5E0A4-65BB-AE1E-6AC0-29F7D2438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EDAD7-7608-44C0-86FE-76CBD850CC4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2092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8665390-4F51-7021-D196-4BA89D852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0EAD6-900F-4D8A-BA46-CB8AFF023E03}" type="datetimeFigureOut">
              <a:rPr lang="es-CL" smtClean="0"/>
              <a:t>24-06-2026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A4BCD87-1716-8328-FF9D-61994BD7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AC0416C-93A0-CAEC-0F42-62F125270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EDAD7-7608-44C0-86FE-76CBD850CC4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35949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A13179-B983-D5E7-A038-0A342701B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5B8365-DCE4-D4F4-E19B-0F778EB69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BFA59D4-4E0D-7175-8B20-FCA7DB3F96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C42020E-6C97-5D16-20BF-8964A52A1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0EAD6-900F-4D8A-BA46-CB8AFF023E03}" type="datetimeFigureOut">
              <a:rPr lang="es-CL" smtClean="0"/>
              <a:t>24-06-2026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C4BB05-CB1E-0B5A-B710-75DFE9BF8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F9501E0-2AF4-A8A8-04D4-5B3A823CE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EDAD7-7608-44C0-86FE-76CBD850CC4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8729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E09584-2001-67DF-1DEA-E743EF0B8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D28B627-9C21-26D2-F361-39AF7E483C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48D7C2-6AF9-9D09-499E-BE6FADA17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CAC2E5D-388E-0BDF-E63D-2B2B47DA8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0EAD6-900F-4D8A-BA46-CB8AFF023E03}" type="datetimeFigureOut">
              <a:rPr lang="es-CL" smtClean="0"/>
              <a:t>24-06-2026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8E4D54-A163-8E94-7E0A-00AA0FCA5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4455A76-A991-A15D-AB07-98B20CF7A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EDAD7-7608-44C0-86FE-76CBD850CC4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85334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250079-679A-EECF-6959-26FCABF0E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9D8402F-57C3-FC62-EAEC-79587F166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98ADDF-BF57-9418-A843-5FCA91DAD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0EAD6-900F-4D8A-BA46-CB8AFF023E03}" type="datetimeFigureOut">
              <a:rPr lang="es-CL" smtClean="0"/>
              <a:t>24-06-2026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7B612E-1304-B88F-F1AE-EBA6D38BF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B35D94-FB7E-9A73-1F44-6651C4ACE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EDAD7-7608-44C0-86FE-76CBD850CC4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38633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0B422F-6E90-70D7-34DB-69ACF6DB31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0B916FC-05D8-3E74-1843-BAD0295072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CEF9C9-7130-70AF-CB17-D9D229301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0EAD6-900F-4D8A-BA46-CB8AFF023E03}" type="datetimeFigureOut">
              <a:rPr lang="es-CL" smtClean="0"/>
              <a:t>24-06-2026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E16C83-ED62-3083-72F7-4C9B0B720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AC9F4F-1D5E-B985-7B91-388D66D12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EDAD7-7608-44C0-86FE-76CBD850CC4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05080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0DFFC81-74E7-8FAF-A9D5-729FF9B07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0CDED68-56C9-80FB-FB67-28C1EFFEB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3C7606-B760-E61C-A82B-B940A2C91D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90EAD6-900F-4D8A-BA46-CB8AFF023E03}" type="datetimeFigureOut">
              <a:rPr lang="es-CL" smtClean="0"/>
              <a:t>24-06-2026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0A15C4-C840-F96C-CF7D-B39E6CA71F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BE2225-917C-F9DB-49AE-7624E2BA0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5EDAD7-7608-44C0-86FE-76CBD850CC41}" type="slidenum">
              <a:rPr lang="es-CL" smtClean="0"/>
              <a:t>‹Nº›</a:t>
            </a:fld>
            <a:endParaRPr lang="es-CL"/>
          </a:p>
        </p:txBody>
      </p:sp>
      <p:grpSp>
        <p:nvGrpSpPr>
          <p:cNvPr id="90" name="Deco"/>
          <p:cNvGrpSpPr/>
          <p:nvPr/>
        </p:nvGrpSpPr>
        <p:grpSpPr>
          <a:xfrm>
            <a:off x="0" y="0"/>
            <a:ext cx="120650" cy="6858000"/>
            <a:chOff x="0" y="0"/>
            <a:chExt cx="120650" cy="6858000"/>
          </a:xfrm>
        </p:grpSpPr>
        <p:sp>
          <p:nvSpPr>
            <p:cNvPr id="91" name="DecoBar"/>
            <p:cNvSpPr/>
            <p:nvPr/>
          </p:nvSpPr>
          <p:spPr>
            <a:xfrm>
              <a:off x="0" y="0"/>
              <a:ext cx="60325" cy="6858000"/>
            </a:xfrm>
            <a:prstGeom prst="rect">
              <a:avLst/>
            </a:prstGeom>
            <a:solidFill>
              <a:srgbClr val="15608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DecoTick"/>
            <p:cNvSpPr/>
            <p:nvPr/>
          </p:nvSpPr>
          <p:spPr>
            <a:xfrm>
              <a:off x="0" y="0"/>
              <a:ext cx="60325" cy="1371600"/>
            </a:xfrm>
            <a:prstGeom prst="rect">
              <a:avLst/>
            </a:prstGeom>
            <a:solidFill>
              <a:srgbClr val="E9713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53331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E284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A273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9D90A229-3275-1A45-FBBD-A589868584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45" y="1344996"/>
            <a:ext cx="5513004" cy="551300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23D7CA1-7EAF-F3A8-C739-9D7BCB4208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1254" y="0"/>
            <a:ext cx="9144000" cy="2387600"/>
          </a:xfrm>
        </p:spPr>
        <p:txBody>
          <a:bodyPr/>
          <a:lstStyle/>
          <a:p>
            <a:pPr algn="ctr"/>
            <a:r>
              <a:rPr lang="es-CL" sz="4000" b="1" dirty="0">
                <a:solidFill>
                  <a:schemeClr val="tx2"/>
                </a:solidFill>
              </a:rPr>
              <a:t>Detección de patrones gráficos en documentos históricos</a:t>
            </a:r>
          </a:p>
          <a:p>
            <a:pPr algn="ctr"/>
            <a:r>
              <a:rPr lang="es-CL" sz="2400" i="1" dirty="0">
                <a:solidFill>
                  <a:schemeClr val="accent1"/>
                </a:solidFill>
              </a:rPr>
              <a:t>condicionada por sketch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9A030AF-E5C6-2244-045E-84AF60B97F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91254" y="2479675"/>
            <a:ext cx="9144000" cy="1655762"/>
          </a:xfrm>
        </p:spPr>
        <p:txBody>
          <a:bodyPr/>
          <a:lstStyle/>
          <a:p>
            <a:pPr algn="ctr"/>
            <a:r>
              <a:rPr lang="es-CL" sz="2000" b="1" dirty="0" err="1">
                <a:solidFill>
                  <a:schemeClr val="accent2"/>
                </a:solidFill>
              </a:rPr>
              <a:t>iDoc</a:t>
            </a:r>
            <a:r>
              <a:rPr lang="es-CL" sz="2000" b="1" dirty="0">
                <a:solidFill>
                  <a:schemeClr val="accent2"/>
                </a:solidFill>
              </a:rPr>
              <a:t>-FCOS — Arquitectura y resultados</a:t>
            </a:r>
          </a:p>
          <a:p>
            <a:pPr algn="ctr"/>
            <a:r>
              <a:rPr lang="es-CL" sz="1500" dirty="0">
                <a:solidFill>
                  <a:schemeClr val="tx1"/>
                </a:solidFill>
              </a:rPr>
              <a:t>Backbone </a:t>
            </a:r>
            <a:r>
              <a:rPr lang="es-CL" sz="1500" dirty="0" err="1">
                <a:solidFill>
                  <a:schemeClr val="tx1"/>
                </a:solidFill>
              </a:rPr>
              <a:t>ViT</a:t>
            </a:r>
            <a:r>
              <a:rPr lang="es-CL" sz="1500" dirty="0">
                <a:solidFill>
                  <a:schemeClr val="tx1"/>
                </a:solidFill>
              </a:rPr>
              <a:t>-Base/16 </a:t>
            </a:r>
            <a:r>
              <a:rPr lang="es-CL" sz="1500" dirty="0" err="1">
                <a:solidFill>
                  <a:schemeClr val="tx1"/>
                </a:solidFill>
              </a:rPr>
              <a:t>frozen</a:t>
            </a:r>
            <a:r>
              <a:rPr lang="es-CL" sz="1500" dirty="0">
                <a:solidFill>
                  <a:schemeClr val="tx1"/>
                </a:solidFill>
              </a:rPr>
              <a:t>  ·  Cabeza FCOS anchor-free  ·  </a:t>
            </a:r>
            <a:r>
              <a:rPr lang="es-CL" sz="1500" dirty="0" err="1">
                <a:solidFill>
                  <a:schemeClr val="tx1"/>
                </a:solidFill>
              </a:rPr>
              <a:t>FiLM</a:t>
            </a:r>
            <a:r>
              <a:rPr lang="es-CL" sz="1500" dirty="0">
                <a:solidFill>
                  <a:schemeClr val="tx1"/>
                </a:solidFill>
              </a:rPr>
              <a:t> + Co-</a:t>
            </a:r>
            <a:r>
              <a:rPr lang="es-CL" sz="1500" dirty="0" err="1">
                <a:solidFill>
                  <a:schemeClr val="tx1"/>
                </a:solidFill>
              </a:rPr>
              <a:t>Attention</a:t>
            </a:r>
            <a:r>
              <a:rPr lang="es-CL" sz="1500" dirty="0">
                <a:solidFill>
                  <a:schemeClr val="tx1"/>
                </a:solidFill>
              </a:rPr>
              <a:t> bidireccional</a:t>
            </a:r>
          </a:p>
        </p:txBody>
      </p:sp>
    </p:spTree>
    <p:extLst>
      <p:ext uri="{BB962C8B-B14F-4D97-AF65-F5344CB8AC3E}">
        <p14:creationId xmlns:p14="http://schemas.microsoft.com/office/powerpoint/2010/main" val="364781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DAFBD9A9-8E5B-EA2A-F79C-7E85E07147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3845" y="-467655"/>
            <a:ext cx="2715555" cy="2715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1F9EE5-52D7-CCE9-E328-DD3693143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Tres desafíos del dominio</a:t>
            </a:r>
          </a:p>
        </p:txBody>
      </p:sp>
      <p:sp>
        <p:nvSpPr>
          <p:cNvPr id="200" name="r"/>
          <p:cNvSpPr/>
          <p:nvPr/>
        </p:nvSpPr>
        <p:spPr>
          <a:xfrm>
            <a:off x="711200" y="2032000"/>
            <a:ext cx="3352800" cy="38100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15608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1" name="r"/>
          <p:cNvSpPr/>
          <p:nvPr/>
        </p:nvSpPr>
        <p:spPr>
          <a:xfrm>
            <a:off x="711200" y="2032000"/>
            <a:ext cx="3352800" cy="1016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c"/>
          <p:cNvSpPr/>
          <p:nvPr/>
        </p:nvSpPr>
        <p:spPr>
          <a:xfrm>
            <a:off x="2006600" y="2336800"/>
            <a:ext cx="762000" cy="7620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"/>
          <p:cNvSpPr txBox="1"/>
          <p:nvPr/>
        </p:nvSpPr>
        <p:spPr>
          <a:xfrm>
            <a:off x="939800" y="3378200"/>
            <a:ext cx="2895600" cy="22352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lang="es-CL" sz="1800" b="1" dirty="0">
                <a:solidFill>
                  <a:srgbClr val="156082"/>
                </a:solidFill>
              </a:rPr>
              <a:t>Pocas instancias por clase</a:t>
            </a:r>
          </a:p>
          <a:p>
            <a:pPr algn="ctr">
              <a:spcBef>
                <a:spcPts val="600"/>
              </a:spcBef>
            </a:pPr>
            <a:r>
              <a:rPr lang="es-CL" sz="1400" dirty="0">
                <a:solidFill>
                  <a:srgbClr val="1A2733"/>
                </a:solidFill>
              </a:rPr>
              <a:t>Long-tail severo (Gini 0.537); clases con &lt;50 ejemplos</a:t>
            </a:r>
          </a:p>
          <a:p>
            <a:pPr algn="ctr">
              <a:spcBef>
                <a:spcPts val="1000"/>
              </a:spcBef>
            </a:pPr>
            <a:r>
              <a:rPr lang="es-CL" sz="1100" b="1" spc="100" dirty="0">
                <a:solidFill>
                  <a:srgbClr val="156082"/>
                </a:solidFill>
              </a:rPr>
              <a:t>MECANISMO</a:t>
            </a:r>
          </a:p>
          <a:p>
            <a:pPr algn="ctr"/>
            <a:r>
              <a:rPr lang="es-CL" sz="1400" dirty="0">
                <a:solidFill>
                  <a:srgbClr val="46606E"/>
                </a:solidFill>
              </a:rPr>
              <a:t>SupCon loss + copy-paste + class weights</a:t>
            </a:r>
          </a:p>
        </p:txBody>
      </p:sp>
      <p:sp>
        <p:nvSpPr>
          <p:cNvPr id="204" name="r"/>
          <p:cNvSpPr/>
          <p:nvPr/>
        </p:nvSpPr>
        <p:spPr>
          <a:xfrm>
            <a:off x="4419600" y="2032000"/>
            <a:ext cx="3352800" cy="38100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0F9E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5" name="r"/>
          <p:cNvSpPr/>
          <p:nvPr/>
        </p:nvSpPr>
        <p:spPr>
          <a:xfrm>
            <a:off x="4419600" y="2032000"/>
            <a:ext cx="3352800" cy="1016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c"/>
          <p:cNvSpPr/>
          <p:nvPr/>
        </p:nvSpPr>
        <p:spPr>
          <a:xfrm>
            <a:off x="5715000" y="2336800"/>
            <a:ext cx="762000" cy="762000"/>
          </a:xfrm>
          <a:prstGeom prst="ellipse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7" name="t"/>
          <p:cNvSpPr txBox="1"/>
          <p:nvPr/>
        </p:nvSpPr>
        <p:spPr>
          <a:xfrm>
            <a:off x="4648200" y="3378200"/>
            <a:ext cx="2895600" cy="22352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lang="es-CL" sz="1800" b="1" dirty="0">
                <a:solidFill>
                  <a:srgbClr val="0F9ED5"/>
                </a:solidFill>
              </a:rPr>
              <a:t>Alta variabilidad visual</a:t>
            </a:r>
          </a:p>
          <a:p>
            <a:pPr algn="ctr">
              <a:spcBef>
                <a:spcPts val="600"/>
              </a:spcBef>
            </a:pPr>
            <a:r>
              <a:rPr lang="es-CL" sz="1400" dirty="0">
                <a:solidFill>
                  <a:srgbClr val="1A2733"/>
                </a:solidFill>
              </a:rPr>
              <a:t>El mismo símbolo cambia entre escribas y páginas</a:t>
            </a:r>
          </a:p>
          <a:p>
            <a:pPr algn="ctr">
              <a:spcBef>
                <a:spcPts val="1000"/>
              </a:spcBef>
            </a:pPr>
            <a:r>
              <a:rPr lang="es-CL" sz="1100" b="1" spc="100" dirty="0">
                <a:solidFill>
                  <a:srgbClr val="0F9ED5"/>
                </a:solidFill>
              </a:rPr>
              <a:t>MECANISMO</a:t>
            </a:r>
          </a:p>
          <a:p>
            <a:pPr algn="ctr"/>
            <a:r>
              <a:rPr lang="es-CL" sz="1400" dirty="0">
                <a:solidFill>
                  <a:srgbClr val="46606E"/>
                </a:solidFill>
              </a:rPr>
              <a:t>Query augmentation + multi-query fusion</a:t>
            </a:r>
          </a:p>
        </p:txBody>
      </p:sp>
      <p:sp>
        <p:nvSpPr>
          <p:cNvPr id="208" name="r"/>
          <p:cNvSpPr/>
          <p:nvPr/>
        </p:nvSpPr>
        <p:spPr>
          <a:xfrm>
            <a:off x="8128000" y="2032000"/>
            <a:ext cx="3352800" cy="38100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E9713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9" name="r"/>
          <p:cNvSpPr/>
          <p:nvPr/>
        </p:nvSpPr>
        <p:spPr>
          <a:xfrm>
            <a:off x="8128000" y="2032000"/>
            <a:ext cx="3352800" cy="1016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c"/>
          <p:cNvSpPr/>
          <p:nvPr/>
        </p:nvSpPr>
        <p:spPr>
          <a:xfrm>
            <a:off x="9423400" y="2336800"/>
            <a:ext cx="762000" cy="762000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t"/>
          <p:cNvSpPr txBox="1"/>
          <p:nvPr/>
        </p:nvSpPr>
        <p:spPr>
          <a:xfrm>
            <a:off x="8356600" y="3378200"/>
            <a:ext cx="2895600" cy="22352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lang="es-CL" sz="1800" b="1" dirty="0">
                <a:solidFill>
                  <a:srgbClr val="E97132"/>
                </a:solidFill>
              </a:rPr>
              <a:t>Páginas densas → falsos positivos</a:t>
            </a:r>
          </a:p>
          <a:p>
            <a:pPr algn="ctr">
              <a:spcBef>
                <a:spcPts val="600"/>
              </a:spcBef>
            </a:pPr>
            <a:r>
              <a:rPr lang="es-CL" sz="1400" dirty="0">
                <a:solidFill>
                  <a:srgbClr val="1A2733"/>
                </a:solidFill>
              </a:rPr>
              <a:t>Texturas y decoración se confunden con objetos</a:t>
            </a:r>
          </a:p>
          <a:p>
            <a:pPr algn="ctr">
              <a:spcBef>
                <a:spcPts val="1000"/>
              </a:spcBef>
            </a:pPr>
            <a:r>
              <a:rPr lang="es-CL" sz="1100" b="1" spc="100" dirty="0">
                <a:solidFill>
                  <a:srgbClr val="E97132"/>
                </a:solidFill>
              </a:rPr>
              <a:t>MECANISMO</a:t>
            </a:r>
          </a:p>
          <a:p>
            <a:pPr algn="ctr"/>
            <a:r>
              <a:rPr lang="es-CL" sz="1400" dirty="0">
                <a:solidFill>
                  <a:srgbClr val="46606E"/>
                </a:solidFill>
              </a:rPr>
              <a:t>Co-Attention + adaptive threshold + context-aware NMS</a:t>
            </a:r>
          </a:p>
        </p:txBody>
      </p:sp>
      <p:pic>
        <p:nvPicPr>
          <p:cNvPr id="212" name="Graphic 212" descr="Pocas instancia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84400" y="2514600"/>
            <a:ext cx="406400" cy="406400"/>
          </a:xfrm>
          <a:prstGeom prst="rect">
            <a:avLst/>
          </a:prstGeom>
        </p:spPr>
      </p:pic>
      <p:pic>
        <p:nvPicPr>
          <p:cNvPr id="213" name="Graphic 213" descr="Variabilida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92800" y="2514600"/>
            <a:ext cx="406400" cy="406400"/>
          </a:xfrm>
          <a:prstGeom prst="rect">
            <a:avLst/>
          </a:prstGeom>
        </p:spPr>
      </p:pic>
      <p:pic>
        <p:nvPicPr>
          <p:cNvPr id="214" name="Graphic 214" descr="Páginas densa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01200" y="25146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086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311DC5-71BB-0514-9E4B-C78F4AFF7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10515600" cy="914400"/>
          </a:xfrm>
        </p:spPr>
        <p:txBody>
          <a:bodyPr/>
          <a:lstStyle/>
          <a:p>
            <a:r>
              <a:rPr lang="es-CL"/>
              <a:t>Visión general del sistema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398AD3D-82BC-40F7-2BDE-11648EC230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0200"/>
            <a:ext cx="121920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858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34A0A961-2B89-A6B4-DF2E-32BBD66158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8263" y="-109537"/>
            <a:ext cx="1963737" cy="196373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FFD4C37-C7BD-D813-8B0F-C3D12B32F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Backbone: un </a:t>
            </a:r>
            <a:r>
              <a:rPr lang="es-CL" dirty="0" err="1"/>
              <a:t>ViT</a:t>
            </a:r>
            <a:r>
              <a:rPr lang="es-CL" dirty="0"/>
              <a:t> </a:t>
            </a:r>
            <a:r>
              <a:rPr lang="es-CL" dirty="0" err="1"/>
              <a:t>frozen</a:t>
            </a:r>
            <a:r>
              <a:rPr lang="es-CL" dirty="0"/>
              <a:t> que finge ser multiescala</a:t>
            </a:r>
          </a:p>
        </p:txBody>
      </p:sp>
      <p:sp>
        <p:nvSpPr>
          <p:cNvPr id="201" name="r201"/>
          <p:cNvSpPr/>
          <p:nvPr/>
        </p:nvSpPr>
        <p:spPr>
          <a:xfrm>
            <a:off x="711200" y="1905000"/>
            <a:ext cx="1320800" cy="609600"/>
          </a:xfrm>
          <a:prstGeom prst="roundRect">
            <a:avLst>
              <a:gd name="adj" fmla="val 8"/>
            </a:avLst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203"/>
          <p:cNvSpPr txBox="1"/>
          <p:nvPr/>
        </p:nvSpPr>
        <p:spPr>
          <a:xfrm>
            <a:off x="711200" y="1905000"/>
            <a:ext cx="1320800" cy="609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s-CL" sz="1400" b="1" dirty="0">
                <a:solidFill>
                  <a:srgbClr val="FFFFFF"/>
                </a:solidFill>
              </a:rPr>
              <a:t>Bloque 2</a:t>
            </a:r>
          </a:p>
        </p:txBody>
      </p:sp>
      <p:sp>
        <p:nvSpPr>
          <p:cNvPr id="204" name="a204"/>
          <p:cNvSpPr/>
          <p:nvPr/>
        </p:nvSpPr>
        <p:spPr>
          <a:xfrm>
            <a:off x="2108200" y="2095500"/>
            <a:ext cx="330200" cy="228600"/>
          </a:xfrm>
          <a:prstGeom prst="rightArrow">
            <a:avLst/>
          </a:prstGeom>
          <a:solidFill>
            <a:srgbClr val="9DB8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r205"/>
          <p:cNvSpPr/>
          <p:nvPr/>
        </p:nvSpPr>
        <p:spPr>
          <a:xfrm>
            <a:off x="2540000" y="1905000"/>
            <a:ext cx="1905000" cy="609600"/>
          </a:xfrm>
          <a:prstGeom prst="roundRect">
            <a:avLst>
              <a:gd name="adj" fmla="val 8"/>
            </a:avLst>
          </a:prstGeom>
          <a:solidFill>
            <a:srgbClr val="EEF2F5"/>
          </a:solidFill>
          <a:ln w="12700">
            <a:solidFill>
              <a:srgbClr val="15608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7" name="t207"/>
          <p:cNvSpPr txBox="1"/>
          <p:nvPr/>
        </p:nvSpPr>
        <p:spPr>
          <a:xfrm>
            <a:off x="2540000" y="1905000"/>
            <a:ext cx="1905000" cy="609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s-CL" sz="1400" b="1" dirty="0">
                <a:solidFill>
                  <a:srgbClr val="0E2841"/>
                </a:solidFill>
              </a:rPr>
              <a:t>C2 · stride 4</a:t>
            </a:r>
          </a:p>
        </p:txBody>
      </p:sp>
      <p:sp>
        <p:nvSpPr>
          <p:cNvPr id="209" name="t209"/>
          <p:cNvSpPr txBox="1"/>
          <p:nvPr/>
        </p:nvSpPr>
        <p:spPr>
          <a:xfrm>
            <a:off x="4572000" y="1905000"/>
            <a:ext cx="2946400" cy="609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s-CL" sz="1400" dirty="0">
                <a:solidFill>
                  <a:srgbClr val="45566B"/>
                </a:solidFill>
              </a:rPr>
              <a:t>reshape + ×4 upsample</a:t>
            </a:r>
          </a:p>
        </p:txBody>
      </p:sp>
      <p:sp>
        <p:nvSpPr>
          <p:cNvPr id="210" name="r210"/>
          <p:cNvSpPr/>
          <p:nvPr/>
        </p:nvSpPr>
        <p:spPr>
          <a:xfrm>
            <a:off x="711200" y="2641600"/>
            <a:ext cx="1320800" cy="609600"/>
          </a:xfrm>
          <a:prstGeom prst="roundRect">
            <a:avLst>
              <a:gd name="adj" fmla="val 8"/>
            </a:avLst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t212"/>
          <p:cNvSpPr txBox="1"/>
          <p:nvPr/>
        </p:nvSpPr>
        <p:spPr>
          <a:xfrm>
            <a:off x="711200" y="2641600"/>
            <a:ext cx="1320800" cy="609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s-CL" sz="1400" b="1" dirty="0">
                <a:solidFill>
                  <a:srgbClr val="FFFFFF"/>
                </a:solidFill>
              </a:rPr>
              <a:t>Bloque 5</a:t>
            </a:r>
          </a:p>
        </p:txBody>
      </p:sp>
      <p:sp>
        <p:nvSpPr>
          <p:cNvPr id="213" name="a213"/>
          <p:cNvSpPr/>
          <p:nvPr/>
        </p:nvSpPr>
        <p:spPr>
          <a:xfrm>
            <a:off x="2108200" y="2832100"/>
            <a:ext cx="330200" cy="228600"/>
          </a:xfrm>
          <a:prstGeom prst="rightArrow">
            <a:avLst/>
          </a:prstGeom>
          <a:solidFill>
            <a:srgbClr val="9DB8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4" name="r214"/>
          <p:cNvSpPr/>
          <p:nvPr/>
        </p:nvSpPr>
        <p:spPr>
          <a:xfrm>
            <a:off x="2540000" y="2641600"/>
            <a:ext cx="1905000" cy="609600"/>
          </a:xfrm>
          <a:prstGeom prst="roundRect">
            <a:avLst>
              <a:gd name="adj" fmla="val 8"/>
            </a:avLst>
          </a:prstGeom>
          <a:solidFill>
            <a:srgbClr val="EEF2F5"/>
          </a:solidFill>
          <a:ln w="12700">
            <a:solidFill>
              <a:srgbClr val="15608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6" name="t216"/>
          <p:cNvSpPr txBox="1"/>
          <p:nvPr/>
        </p:nvSpPr>
        <p:spPr>
          <a:xfrm>
            <a:off x="2540000" y="2641600"/>
            <a:ext cx="1905000" cy="609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s-CL" sz="1400" b="1" dirty="0">
                <a:solidFill>
                  <a:srgbClr val="0E2841"/>
                </a:solidFill>
              </a:rPr>
              <a:t>C3 · stride 8</a:t>
            </a:r>
          </a:p>
        </p:txBody>
      </p:sp>
      <p:sp>
        <p:nvSpPr>
          <p:cNvPr id="218" name="t218"/>
          <p:cNvSpPr txBox="1"/>
          <p:nvPr/>
        </p:nvSpPr>
        <p:spPr>
          <a:xfrm>
            <a:off x="4572000" y="2641600"/>
            <a:ext cx="2946400" cy="609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s-CL" sz="1400" dirty="0">
                <a:solidFill>
                  <a:srgbClr val="45566B"/>
                </a:solidFill>
              </a:rPr>
              <a:t>reshape + ×2 upsample</a:t>
            </a:r>
          </a:p>
        </p:txBody>
      </p:sp>
      <p:sp>
        <p:nvSpPr>
          <p:cNvPr id="219" name="r219"/>
          <p:cNvSpPr/>
          <p:nvPr/>
        </p:nvSpPr>
        <p:spPr>
          <a:xfrm>
            <a:off x="711200" y="3378200"/>
            <a:ext cx="1320800" cy="609600"/>
          </a:xfrm>
          <a:prstGeom prst="roundRect">
            <a:avLst>
              <a:gd name="adj" fmla="val 8"/>
            </a:avLst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t221"/>
          <p:cNvSpPr txBox="1"/>
          <p:nvPr/>
        </p:nvSpPr>
        <p:spPr>
          <a:xfrm>
            <a:off x="711200" y="3378200"/>
            <a:ext cx="1320800" cy="609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s-CL" sz="1400" b="1" dirty="0">
                <a:solidFill>
                  <a:srgbClr val="FFFFFF"/>
                </a:solidFill>
              </a:rPr>
              <a:t>Bloque 8</a:t>
            </a:r>
          </a:p>
        </p:txBody>
      </p:sp>
      <p:sp>
        <p:nvSpPr>
          <p:cNvPr id="222" name="a222"/>
          <p:cNvSpPr/>
          <p:nvPr/>
        </p:nvSpPr>
        <p:spPr>
          <a:xfrm>
            <a:off x="2108200" y="3568700"/>
            <a:ext cx="330200" cy="228600"/>
          </a:xfrm>
          <a:prstGeom prst="rightArrow">
            <a:avLst/>
          </a:prstGeom>
          <a:solidFill>
            <a:srgbClr val="9DB8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3" name="r223"/>
          <p:cNvSpPr/>
          <p:nvPr/>
        </p:nvSpPr>
        <p:spPr>
          <a:xfrm>
            <a:off x="2540000" y="3378200"/>
            <a:ext cx="1905000" cy="609600"/>
          </a:xfrm>
          <a:prstGeom prst="roundRect">
            <a:avLst>
              <a:gd name="adj" fmla="val 8"/>
            </a:avLst>
          </a:prstGeom>
          <a:solidFill>
            <a:srgbClr val="EEF2F5"/>
          </a:solidFill>
          <a:ln w="12700">
            <a:solidFill>
              <a:srgbClr val="15608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5" name="t225"/>
          <p:cNvSpPr txBox="1"/>
          <p:nvPr/>
        </p:nvSpPr>
        <p:spPr>
          <a:xfrm>
            <a:off x="2540000" y="3378200"/>
            <a:ext cx="1905000" cy="609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s-CL" sz="1400" b="1" dirty="0">
                <a:solidFill>
                  <a:srgbClr val="0E2841"/>
                </a:solidFill>
              </a:rPr>
              <a:t>C4 · stride 16</a:t>
            </a:r>
          </a:p>
        </p:txBody>
      </p:sp>
      <p:sp>
        <p:nvSpPr>
          <p:cNvPr id="227" name="t227"/>
          <p:cNvSpPr txBox="1"/>
          <p:nvPr/>
        </p:nvSpPr>
        <p:spPr>
          <a:xfrm>
            <a:off x="4572000" y="3378200"/>
            <a:ext cx="2946400" cy="609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s-CL" sz="1400" dirty="0">
                <a:solidFill>
                  <a:srgbClr val="45566B"/>
                </a:solidFill>
              </a:rPr>
              <a:t>reshape (resolución nativa)</a:t>
            </a:r>
          </a:p>
        </p:txBody>
      </p:sp>
      <p:sp>
        <p:nvSpPr>
          <p:cNvPr id="228" name="r228"/>
          <p:cNvSpPr/>
          <p:nvPr/>
        </p:nvSpPr>
        <p:spPr>
          <a:xfrm>
            <a:off x="711200" y="4114800"/>
            <a:ext cx="1320800" cy="609600"/>
          </a:xfrm>
          <a:prstGeom prst="roundRect">
            <a:avLst>
              <a:gd name="adj" fmla="val 8"/>
            </a:avLst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0" name="t230"/>
          <p:cNvSpPr txBox="1"/>
          <p:nvPr/>
        </p:nvSpPr>
        <p:spPr>
          <a:xfrm>
            <a:off x="711200" y="4114800"/>
            <a:ext cx="1320800" cy="609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s-CL" sz="1400" b="1" dirty="0">
                <a:solidFill>
                  <a:srgbClr val="FFFFFF"/>
                </a:solidFill>
              </a:rPr>
              <a:t>Bloque 11</a:t>
            </a:r>
          </a:p>
        </p:txBody>
      </p:sp>
      <p:sp>
        <p:nvSpPr>
          <p:cNvPr id="231" name="a231"/>
          <p:cNvSpPr/>
          <p:nvPr/>
        </p:nvSpPr>
        <p:spPr>
          <a:xfrm>
            <a:off x="2108200" y="4305300"/>
            <a:ext cx="330200" cy="228600"/>
          </a:xfrm>
          <a:prstGeom prst="rightArrow">
            <a:avLst/>
          </a:prstGeom>
          <a:solidFill>
            <a:srgbClr val="9DB8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r232"/>
          <p:cNvSpPr/>
          <p:nvPr/>
        </p:nvSpPr>
        <p:spPr>
          <a:xfrm>
            <a:off x="2540000" y="4114800"/>
            <a:ext cx="1905000" cy="609600"/>
          </a:xfrm>
          <a:prstGeom prst="roundRect">
            <a:avLst>
              <a:gd name="adj" fmla="val 8"/>
            </a:avLst>
          </a:prstGeom>
          <a:solidFill>
            <a:srgbClr val="EEF2F5"/>
          </a:solidFill>
          <a:ln w="12700">
            <a:solidFill>
              <a:srgbClr val="15608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4" name="t234"/>
          <p:cNvSpPr txBox="1"/>
          <p:nvPr/>
        </p:nvSpPr>
        <p:spPr>
          <a:xfrm>
            <a:off x="2540000" y="4114800"/>
            <a:ext cx="1905000" cy="609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s-CL" sz="1400" b="1" dirty="0">
                <a:solidFill>
                  <a:srgbClr val="0E2841"/>
                </a:solidFill>
              </a:rPr>
              <a:t>C5 · stride 32</a:t>
            </a:r>
          </a:p>
        </p:txBody>
      </p:sp>
      <p:sp>
        <p:nvSpPr>
          <p:cNvPr id="236" name="t236"/>
          <p:cNvSpPr txBox="1"/>
          <p:nvPr/>
        </p:nvSpPr>
        <p:spPr>
          <a:xfrm>
            <a:off x="4572000" y="4114800"/>
            <a:ext cx="2946400" cy="609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s-CL" sz="1400" dirty="0">
                <a:solidFill>
                  <a:srgbClr val="45566B"/>
                </a:solidFill>
              </a:rPr>
              <a:t>reshape + max-pool stride-2</a:t>
            </a:r>
          </a:p>
        </p:txBody>
      </p:sp>
      <p:sp>
        <p:nvSpPr>
          <p:cNvPr id="237" name="r237"/>
          <p:cNvSpPr/>
          <p:nvPr/>
        </p:nvSpPr>
        <p:spPr>
          <a:xfrm>
            <a:off x="711200" y="4902200"/>
            <a:ext cx="6807200" cy="558800"/>
          </a:xfrm>
          <a:prstGeom prst="roundRect">
            <a:avLst>
              <a:gd name="adj" fmla="val 8"/>
            </a:avLst>
          </a:prstGeom>
          <a:solidFill>
            <a:srgbClr val="0E284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9" name="t239"/>
          <p:cNvSpPr txBox="1"/>
          <p:nvPr/>
        </p:nvSpPr>
        <p:spPr>
          <a:xfrm>
            <a:off x="711200" y="4902200"/>
            <a:ext cx="6807200" cy="558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s-CL" sz="1500" b="1" dirty="0">
                <a:solidFill>
                  <a:srgbClr val="FFFFFF"/>
                </a:solidFill>
              </a:rPr>
              <a:t>→ FPN top-down → P2–P6 · 256 canales</a:t>
            </a:r>
          </a:p>
        </p:txBody>
      </p:sp>
      <p:sp>
        <p:nvSpPr>
          <p:cNvPr id="240" name="r240"/>
          <p:cNvSpPr/>
          <p:nvPr/>
        </p:nvSpPr>
        <p:spPr>
          <a:xfrm>
            <a:off x="7797800" y="1905000"/>
            <a:ext cx="3835400" cy="508000"/>
          </a:xfrm>
          <a:prstGeom prst="roundRect">
            <a:avLst>
              <a:gd name="adj" fmla="val 8"/>
            </a:avLst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2" name="t242"/>
          <p:cNvSpPr txBox="1"/>
          <p:nvPr/>
        </p:nvSpPr>
        <p:spPr>
          <a:xfrm>
            <a:off x="7797800" y="1905000"/>
            <a:ext cx="3835400" cy="508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s-CL" sz="1600" b="1" dirty="0">
                <a:solidFill>
                  <a:srgbClr val="FFFFFF"/>
                </a:solidFill>
              </a:rPr>
              <a:t>Claves del backbone</a:t>
            </a:r>
          </a:p>
        </p:txBody>
      </p:sp>
      <p:sp>
        <p:nvSpPr>
          <p:cNvPr id="243" name="r243"/>
          <p:cNvSpPr/>
          <p:nvPr/>
        </p:nvSpPr>
        <p:spPr>
          <a:xfrm>
            <a:off x="7797800" y="2463800"/>
            <a:ext cx="3835400" cy="3251200"/>
          </a:xfrm>
          <a:prstGeom prst="roundRect">
            <a:avLst>
              <a:gd name="adj" fmla="val 8"/>
            </a:avLst>
          </a:prstGeom>
          <a:solidFill>
            <a:srgbClr val="F4F7F9"/>
          </a:solidFill>
          <a:ln w="12700">
            <a:solidFill>
              <a:srgbClr val="D7E0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5" name="t245"/>
          <p:cNvSpPr txBox="1"/>
          <p:nvPr/>
        </p:nvSpPr>
        <p:spPr>
          <a:xfrm>
            <a:off x="7874000" y="2514600"/>
            <a:ext cx="3683000" cy="31496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s-CL" sz="1400" b="1" dirty="0">
                <a:solidFill>
                  <a:srgbClr val="1A2733"/>
                </a:solidFill>
              </a:rPr>
              <a:t>ViT-Base/16 </a:t>
            </a:r>
            <a:r>
              <a:rPr lang="es-CL" sz="1400" dirty="0">
                <a:solidFill>
                  <a:srgbClr val="1A2733"/>
                </a:solidFill>
              </a:rPr>
              <a:t>100% frozen. Único entrenable: level_norms (4× LN = 6.144 params)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s-CL" sz="1400" b="1" dirty="0">
                <a:solidFill>
                  <a:srgbClr val="1A2733"/>
                </a:solidFill>
              </a:rPr>
              <a:t>Bloques tempranos</a:t>
            </a:r>
            <a:r>
              <a:rPr lang="es-CL" sz="1400" dirty="0">
                <a:solidFill>
                  <a:srgbClr val="1A2733"/>
                </a:solidFill>
              </a:rPr>
              <a:t> → detalle (objetos chicos); tardíos → semántica rica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s-CL" sz="1400" b="1" dirty="0">
                <a:solidFill>
                  <a:srgbClr val="1A2733"/>
                </a:solidFill>
              </a:rPr>
              <a:t>fp32 siempre</a:t>
            </a:r>
            <a:r>
              <a:rPr lang="es-CL" sz="1400" dirty="0">
                <a:solidFill>
                  <a:srgbClr val="1A2733"/>
                </a:solidFill>
              </a:rPr>
              <a:t>: con RoPE, Q·Kᵀ desborda en fp16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s-CL" sz="1400" b="1" dirty="0">
                <a:solidFill>
                  <a:srgbClr val="1A2733"/>
                </a:solidFill>
              </a:rPr>
              <a:t>Doble checkpoint</a:t>
            </a:r>
            <a:r>
              <a:rPr lang="es-CL" sz="1400" dirty="0">
                <a:solidFill>
                  <a:srgbClr val="1A2733"/>
                </a:solidFill>
              </a:rPr>
              <a:t>: iDoc (pos_embed) y DINOv3 (RoPE 2D + register tokens)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s-CL" sz="1400" b="1" dirty="0">
                <a:solidFill>
                  <a:srgbClr val="1A2733"/>
                </a:solidFill>
              </a:rPr>
              <a:t>Query encoder</a:t>
            </a:r>
            <a:r>
              <a:rPr lang="es-CL" sz="1400" dirty="0">
                <a:solidFill>
                  <a:srgbClr val="1A2733"/>
                </a:solidFill>
              </a:rPr>
              <a:t> comparte el ViT → cls_token [768] y 49 tokens (7×7)</a:t>
            </a:r>
          </a:p>
        </p:txBody>
      </p:sp>
    </p:spTree>
    <p:extLst>
      <p:ext uri="{BB962C8B-B14F-4D97-AF65-F5344CB8AC3E}">
        <p14:creationId xmlns:p14="http://schemas.microsoft.com/office/powerpoint/2010/main" val="3059639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835D2A5-FDBE-22F4-2F90-5FC4E11EB3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287000" y="-165100"/>
            <a:ext cx="1905000" cy="1905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B5451D5-FA32-50E3-9DD1-1648F2F13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" y="300037"/>
            <a:ext cx="10515600" cy="1325563"/>
          </a:xfrm>
        </p:spPr>
        <p:txBody>
          <a:bodyPr/>
          <a:lstStyle/>
          <a:p>
            <a:r>
              <a:rPr lang="es-CL" dirty="0"/>
              <a:t>Condicionamiento por sketch: dos vías complementarias</a:t>
            </a:r>
          </a:p>
        </p:txBody>
      </p:sp>
      <p:sp>
        <p:nvSpPr>
          <p:cNvPr id="201" name="r201"/>
          <p:cNvSpPr/>
          <p:nvPr/>
        </p:nvSpPr>
        <p:spPr>
          <a:xfrm>
            <a:off x="558800" y="1905000"/>
            <a:ext cx="5334000" cy="3657600"/>
          </a:xfrm>
          <a:prstGeom prst="roundRect">
            <a:avLst>
              <a:gd name="adj" fmla="val 8"/>
            </a:avLst>
          </a:prstGeom>
          <a:solidFill>
            <a:srgbClr val="F4F7F9"/>
          </a:solidFill>
          <a:ln w="12700">
            <a:solidFill>
              <a:srgbClr val="D7E0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2" name="r202"/>
          <p:cNvSpPr/>
          <p:nvPr/>
        </p:nvSpPr>
        <p:spPr>
          <a:xfrm>
            <a:off x="558800" y="1905000"/>
            <a:ext cx="5334000" cy="584200"/>
          </a:xfrm>
          <a:prstGeom prst="roundRect">
            <a:avLst>
              <a:gd name="adj" fmla="val 8"/>
            </a:avLst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t204"/>
          <p:cNvSpPr txBox="1"/>
          <p:nvPr/>
        </p:nvSpPr>
        <p:spPr>
          <a:xfrm>
            <a:off x="558800" y="1905000"/>
            <a:ext cx="5334000" cy="5842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s-CL" sz="1600" b="1" dirty="0">
                <a:solidFill>
                  <a:srgbClr val="FFFFFF"/>
                </a:solidFill>
              </a:rPr>
              <a:t>FiLM — global y barato · «qué buscar»</a:t>
            </a:r>
          </a:p>
        </p:txBody>
      </p:sp>
      <p:sp>
        <p:nvSpPr>
          <p:cNvPr id="205" name="r205"/>
          <p:cNvSpPr/>
          <p:nvPr/>
        </p:nvSpPr>
        <p:spPr>
          <a:xfrm>
            <a:off x="762000" y="2616200"/>
            <a:ext cx="4927600" cy="660400"/>
          </a:xfrm>
          <a:prstGeom prst="roundRect">
            <a:avLst>
              <a:gd name="adj" fmla="val 6"/>
            </a:avLst>
          </a:prstGeom>
          <a:solidFill>
            <a:srgbClr val="E8EFF2"/>
          </a:solidFill>
          <a:ln w="12700">
            <a:solidFill>
              <a:srgbClr val="15608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7" name="t207"/>
          <p:cNvSpPr txBox="1"/>
          <p:nvPr/>
        </p:nvSpPr>
        <p:spPr>
          <a:xfrm>
            <a:off x="762000" y="2616200"/>
            <a:ext cx="4927600" cy="660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s-CL" sz="1400" dirty="0">
                <a:solidFill>
                  <a:srgbClr val="0E2841"/>
                </a:solidFill>
                <a:latin typeface="Consolas"/>
              </a:rPr>
              <a:t>γ, β = Linear₇₆₈→₅₁₂(cls_refined)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CL" sz="1400" b="1" dirty="0">
                <a:solidFill>
                  <a:srgbClr val="156082"/>
                </a:solidFill>
                <a:latin typeface="Consolas"/>
              </a:rPr>
              <a:t>out = γ · feat + β</a:t>
            </a:r>
          </a:p>
        </p:txBody>
      </p:sp>
      <p:sp>
        <p:nvSpPr>
          <p:cNvPr id="209" name="t209"/>
          <p:cNvSpPr txBox="1"/>
          <p:nvPr/>
        </p:nvSpPr>
        <p:spPr>
          <a:xfrm>
            <a:off x="711200" y="3378200"/>
            <a:ext cx="5080000" cy="21336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s-CL" sz="1400" dirty="0">
                <a:solidFill>
                  <a:srgbClr val="1A2733"/>
                </a:solidFill>
              </a:rPr>
              <a:t>Modula </a:t>
            </a:r>
            <a:r>
              <a:rPr lang="es-CL" sz="1400" b="1" dirty="0">
                <a:solidFill>
                  <a:srgbClr val="1A2733"/>
                </a:solidFill>
              </a:rPr>
              <a:t>todos</a:t>
            </a:r>
            <a:r>
              <a:rPr lang="es-CL" sz="1400" dirty="0">
                <a:solidFill>
                  <a:srgbClr val="1A2733"/>
                </a:solidFill>
              </a:rPr>
              <a:t> los niveles con un prior de clase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s-CL" sz="1400" b="1" dirty="0">
                <a:solidFill>
                  <a:srgbClr val="1A2733"/>
                </a:solidFill>
              </a:rPr>
              <a:t>Init γ=1, β=0</a:t>
            </a:r>
            <a:r>
              <a:rPr lang="es-CL" sz="1400" dirty="0">
                <a:solidFill>
                  <a:srgbClr val="1A2733"/>
                </a:solidFill>
              </a:rPr>
              <a:t> → identidad al arranque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s-CL" sz="1400" dirty="0">
                <a:solidFill>
                  <a:srgbClr val="1A2733"/>
                </a:solidFill>
              </a:rPr>
              <a:t>Coste despreciable: afín por canal, sin interacción espacial</a:t>
            </a:r>
          </a:p>
        </p:txBody>
      </p:sp>
      <p:sp>
        <p:nvSpPr>
          <p:cNvPr id="210" name="r210"/>
          <p:cNvSpPr/>
          <p:nvPr/>
        </p:nvSpPr>
        <p:spPr>
          <a:xfrm>
            <a:off x="6299200" y="1905000"/>
            <a:ext cx="5334000" cy="3657600"/>
          </a:xfrm>
          <a:prstGeom prst="roundRect">
            <a:avLst>
              <a:gd name="adj" fmla="val 8"/>
            </a:avLst>
          </a:prstGeom>
          <a:solidFill>
            <a:srgbClr val="FBF1EA"/>
          </a:solidFill>
          <a:ln w="12700">
            <a:solidFill>
              <a:srgbClr val="E8C7A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1" name="r211"/>
          <p:cNvSpPr/>
          <p:nvPr/>
        </p:nvSpPr>
        <p:spPr>
          <a:xfrm>
            <a:off x="6299200" y="1905000"/>
            <a:ext cx="5334000" cy="584200"/>
          </a:xfrm>
          <a:prstGeom prst="roundRect">
            <a:avLst>
              <a:gd name="adj" fmla="val 8"/>
            </a:avLst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t213"/>
          <p:cNvSpPr txBox="1"/>
          <p:nvPr/>
        </p:nvSpPr>
        <p:spPr>
          <a:xfrm>
            <a:off x="6299200" y="1905000"/>
            <a:ext cx="5334000" cy="5842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s-CL" sz="1600" b="1" dirty="0">
                <a:solidFill>
                  <a:srgbClr val="FFFFFF"/>
                </a:solidFill>
              </a:rPr>
              <a:t>Co-Attention bidireccional — local · «dónde está»</a:t>
            </a:r>
          </a:p>
        </p:txBody>
      </p:sp>
      <p:sp>
        <p:nvSpPr>
          <p:cNvPr id="214" name="r214"/>
          <p:cNvSpPr/>
          <p:nvPr/>
        </p:nvSpPr>
        <p:spPr>
          <a:xfrm>
            <a:off x="6502400" y="2616200"/>
            <a:ext cx="4927600" cy="431800"/>
          </a:xfrm>
          <a:prstGeom prst="roundRect">
            <a:avLst>
              <a:gd name="adj" fmla="val 6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6" name="t216"/>
          <p:cNvSpPr txBox="1"/>
          <p:nvPr/>
        </p:nvSpPr>
        <p:spPr>
          <a:xfrm>
            <a:off x="6502400" y="2616200"/>
            <a:ext cx="4927600" cy="431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s-CL" sz="1400" b="1" dirty="0">
                <a:solidFill>
                  <a:srgbClr val="B5531A"/>
                </a:solidFill>
              </a:rPr>
              <a:t>Paso 1:  sketch ← imagen</a:t>
            </a:r>
            <a:r>
              <a:rPr lang="es-CL" sz="1300" dirty="0">
                <a:solidFill>
                  <a:srgbClr val="1A2733"/>
                </a:solidFill>
              </a:rPr>
              <a:t>  (el sketch se adapta a esta página)</a:t>
            </a:r>
          </a:p>
        </p:txBody>
      </p:sp>
      <p:sp>
        <p:nvSpPr>
          <p:cNvPr id="217" name="r217"/>
          <p:cNvSpPr/>
          <p:nvPr/>
        </p:nvSpPr>
        <p:spPr>
          <a:xfrm>
            <a:off x="6502400" y="3098800"/>
            <a:ext cx="4927600" cy="431800"/>
          </a:xfrm>
          <a:prstGeom prst="roundRect">
            <a:avLst>
              <a:gd name="adj" fmla="val 6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9" name="t219"/>
          <p:cNvSpPr txBox="1"/>
          <p:nvPr/>
        </p:nvSpPr>
        <p:spPr>
          <a:xfrm>
            <a:off x="6502400" y="3098800"/>
            <a:ext cx="4927600" cy="431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s-CL" sz="1400" b="1" dirty="0">
                <a:solidFill>
                  <a:srgbClr val="B5531A"/>
                </a:solidFill>
              </a:rPr>
              <a:t>Paso 2:  imagen ← sketch*</a:t>
            </a:r>
            <a:r>
              <a:rPr lang="es-CL" sz="1300" dirty="0">
                <a:solidFill>
                  <a:srgbClr val="1A2733"/>
                </a:solidFill>
              </a:rPr>
              <a:t>  (afila lo que se parece)</a:t>
            </a:r>
          </a:p>
        </p:txBody>
      </p:sp>
      <p:sp>
        <p:nvSpPr>
          <p:cNvPr id="221" name="t221"/>
          <p:cNvSpPr txBox="1"/>
          <p:nvPr/>
        </p:nvSpPr>
        <p:spPr>
          <a:xfrm>
            <a:off x="6451600" y="3606800"/>
            <a:ext cx="5130800" cy="1905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s-CL" sz="1400" dirty="0">
                <a:solidFill>
                  <a:srgbClr val="1A2733"/>
                </a:solidFill>
              </a:rPr>
              <a:t>MHA 256-dim, 8 cabezas, residual + LayerNorm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s-CL" sz="1400" b="1" dirty="0">
                <a:solidFill>
                  <a:srgbClr val="1A2733"/>
                </a:solidFill>
              </a:rPr>
              <a:t>Init identity</a:t>
            </a:r>
            <a:r>
              <a:rPr lang="es-CL" sz="1400" dirty="0">
                <a:solidFill>
                  <a:srgbClr val="1A2733"/>
                </a:solidFill>
              </a:rPr>
              <a:t> (out_proj=0): no perturba el checkpoint previo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s-CL" sz="1400" b="1" dirty="0">
                <a:solidFill>
                  <a:srgbClr val="1A2733"/>
                </a:solidFill>
              </a:rPr>
              <a:t>Coste O(HW · N_s)</a:t>
            </a:r>
            <a:r>
              <a:rPr lang="es-CL" sz="1400" dirty="0">
                <a:solidFill>
                  <a:srgbClr val="1A2733"/>
                </a:solidFill>
              </a:rPr>
              <a:t> → start_level decide desde qué nivel se activa</a:t>
            </a:r>
          </a:p>
        </p:txBody>
      </p:sp>
      <p:sp>
        <p:nvSpPr>
          <p:cNvPr id="222" name="r222"/>
          <p:cNvSpPr/>
          <p:nvPr/>
        </p:nvSpPr>
        <p:spPr>
          <a:xfrm>
            <a:off x="558800" y="5715000"/>
            <a:ext cx="11074400" cy="533400"/>
          </a:xfrm>
          <a:prstGeom prst="roundRect">
            <a:avLst>
              <a:gd name="adj" fmla="val 8"/>
            </a:avLst>
          </a:prstGeom>
          <a:solidFill>
            <a:srgbClr val="0E284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4" name="t224"/>
          <p:cNvSpPr txBox="1"/>
          <p:nvPr/>
        </p:nvSpPr>
        <p:spPr>
          <a:xfrm>
            <a:off x="558800" y="5715000"/>
            <a:ext cx="11074400" cy="5334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s-CL" sz="1500" b="1" dirty="0">
                <a:solidFill>
                  <a:srgbClr val="FFFFFF"/>
                </a:solidFill>
              </a:rPr>
              <a:t>FiLM orienta </a:t>
            </a:r>
            <a:r>
              <a:rPr lang="es-CL" sz="1500" b="1" dirty="0">
                <a:solidFill>
                  <a:srgbClr val="E97132"/>
                </a:solidFill>
              </a:rPr>
              <a:t>(qué)</a:t>
            </a:r>
            <a:r>
              <a:rPr lang="es-CL" sz="1500" b="1" dirty="0">
                <a:solidFill>
                  <a:srgbClr val="FFFFFF"/>
                </a:solidFill>
              </a:rPr>
              <a:t>   ·   Co-Attention afila </a:t>
            </a:r>
            <a:r>
              <a:rPr lang="es-CL" sz="1500" b="1" dirty="0">
                <a:solidFill>
                  <a:srgbClr val="7FC9E8"/>
                </a:solidFill>
              </a:rPr>
              <a:t>(dónde)</a:t>
            </a:r>
            <a:r>
              <a:rPr lang="es-CL" sz="1500" dirty="0">
                <a:solidFill>
                  <a:srgbClr val="FFFFFF"/>
                </a:solidFill>
              </a:rPr>
              <a:t>   —   se complementan</a:t>
            </a:r>
          </a:p>
        </p:txBody>
      </p:sp>
    </p:spTree>
    <p:extLst>
      <p:ext uri="{BB962C8B-B14F-4D97-AF65-F5344CB8AC3E}">
        <p14:creationId xmlns:p14="http://schemas.microsoft.com/office/powerpoint/2010/main" val="3183610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E1B0E79-073A-4272-1048-2ECF743FC8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5935" y="0"/>
            <a:ext cx="2757170" cy="275717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88D90CC-E428-C82D-BF66-64E94C66F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920" y="365124"/>
            <a:ext cx="10515600" cy="1325563"/>
          </a:xfrm>
        </p:spPr>
        <p:txBody>
          <a:bodyPr/>
          <a:lstStyle/>
          <a:p>
            <a:r>
              <a:rPr lang="es-MX" dirty="0"/>
              <a:t>Cabeza FCOS, pérdidas y </a:t>
            </a:r>
            <a:r>
              <a:rPr lang="es-MX" dirty="0" err="1"/>
              <a:t>post-proceso</a:t>
            </a:r>
            <a:endParaRPr lang="es-CL" dirty="0"/>
          </a:p>
        </p:txBody>
      </p:sp>
      <p:sp>
        <p:nvSpPr>
          <p:cNvPr id="200" name="r201"/>
          <p:cNvSpPr/>
          <p:nvPr/>
        </p:nvSpPr>
        <p:spPr>
          <a:xfrm>
            <a:off x="558800" y="1905000"/>
            <a:ext cx="3530600" cy="533400"/>
          </a:xfrm>
          <a:prstGeom prst="roundRect">
            <a:avLst>
              <a:gd name="adj" fmla="val 6"/>
            </a:avLst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t202"/>
          <p:cNvSpPr txBox="1"/>
          <p:nvPr/>
        </p:nvSpPr>
        <p:spPr>
          <a:xfrm>
            <a:off x="558800" y="1905000"/>
            <a:ext cx="3530600" cy="533400"/>
          </a:xfrm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buNone/>
            </a:pPr>
            <a:r>
              <a:rPr lang="es-CL" sz="1600" b="1" dirty="0">
                <a:solidFill>
                  <a:srgbClr val="FFFFFF"/>
                </a:solidFill>
              </a:rPr>
              <a:t>Cabeza FCOS</a:t>
            </a:r>
          </a:p>
        </p:txBody>
      </p:sp>
      <p:sp>
        <p:nvSpPr>
          <p:cNvPr id="202" name="r203"/>
          <p:cNvSpPr/>
          <p:nvPr/>
        </p:nvSpPr>
        <p:spPr>
          <a:xfrm>
            <a:off x="558800" y="2514600"/>
            <a:ext cx="3530600" cy="3657600"/>
          </a:xfrm>
          <a:prstGeom prst="roundRect">
            <a:avLst>
              <a:gd name="adj" fmla="val 4"/>
            </a:avLst>
          </a:prstGeom>
          <a:solidFill>
            <a:srgbClr val="F4F7F9"/>
          </a:solidFill>
          <a:ln w="9525">
            <a:solidFill>
              <a:srgbClr val="D9E2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3" name="t204"/>
          <p:cNvSpPr txBox="1"/>
          <p:nvPr/>
        </p:nvSpPr>
        <p:spPr>
          <a:xfrm>
            <a:off x="635000" y="2641600"/>
            <a:ext cx="3378200" cy="3352800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/>
          <a:p>
            <a:pPr marL="171450" indent="-171450">
              <a:buFont typeface="Arial"/>
              <a:buChar char="•"/>
            </a:pPr>
            <a:r>
              <a:rPr lang="es-CL" sz="1400" b="1" dirty="0"/>
              <a:t>Convs </a:t>
            </a:r>
            <a:r>
              <a:rPr lang="es-CL" sz="1400" dirty="0"/>
              <a:t>compartidas; FiLM y Co-Attention separados por nivel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s-CL" sz="1300" b="1" dirty="0">
                <a:latin typeface="Consolas"/>
              </a:rPr>
              <a:t>cls_pred</a:t>
            </a:r>
            <a:r>
              <a:rPr lang="es-CL" sz="1400" dirty="0"/>
              <a:t> [B,22,·] · bias init −4.6 (≈1% al arranque)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s-CL" sz="1300" b="1" dirty="0">
                <a:latin typeface="Consolas"/>
              </a:rPr>
              <a:t>reg_pred</a:t>
            </a:r>
            <a:r>
              <a:rPr lang="es-CL" sz="1400" dirty="0"/>
              <a:t> (l,t,r,b) × Scale por nivel → ReLU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s-CL" sz="1300" b="1" dirty="0">
                <a:latin typeface="Consolas"/>
              </a:rPr>
              <a:t>ctr_pred</a:t>
            </a:r>
            <a:r>
              <a:rPr lang="es-CL" sz="1400" dirty="0"/>
              <a:t> desde features de regresión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es-CL" sz="1500" b="1" dirty="0">
                <a:solidFill>
                  <a:srgbClr val="156082"/>
                </a:solidFill>
              </a:rPr>
              <a:t>score = σ(cls) · σ(ctr)</a:t>
            </a:r>
          </a:p>
        </p:txBody>
      </p:sp>
      <p:sp>
        <p:nvSpPr>
          <p:cNvPr id="204" name="r205"/>
          <p:cNvSpPr/>
          <p:nvPr/>
        </p:nvSpPr>
        <p:spPr>
          <a:xfrm>
            <a:off x="4330700" y="1905000"/>
            <a:ext cx="3530600" cy="533400"/>
          </a:xfrm>
          <a:prstGeom prst="roundRect">
            <a:avLst>
              <a:gd name="adj" fmla="val 6"/>
            </a:avLst>
          </a:prstGeom>
          <a:solidFill>
            <a:srgbClr val="A02B9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t206"/>
          <p:cNvSpPr txBox="1"/>
          <p:nvPr/>
        </p:nvSpPr>
        <p:spPr>
          <a:xfrm>
            <a:off x="4330700" y="1905000"/>
            <a:ext cx="3530600" cy="533400"/>
          </a:xfrm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buNone/>
            </a:pPr>
            <a:r>
              <a:rPr lang="es-CL" sz="1600" b="1" dirty="0">
                <a:solidFill>
                  <a:srgbClr val="FFFFFF"/>
                </a:solidFill>
              </a:rPr>
              <a:t>Pipeline de pérdidas</a:t>
            </a:r>
          </a:p>
        </p:txBody>
      </p:sp>
      <p:sp>
        <p:nvSpPr>
          <p:cNvPr id="206" name="r207"/>
          <p:cNvSpPr/>
          <p:nvPr/>
        </p:nvSpPr>
        <p:spPr>
          <a:xfrm>
            <a:off x="4330700" y="2514600"/>
            <a:ext cx="3530600" cy="3657600"/>
          </a:xfrm>
          <a:prstGeom prst="roundRect">
            <a:avLst>
              <a:gd name="adj" fmla="val 4"/>
            </a:avLst>
          </a:prstGeom>
          <a:solidFill>
            <a:srgbClr val="F4F7F9"/>
          </a:solidFill>
          <a:ln w="9525">
            <a:solidFill>
              <a:srgbClr val="D9E2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7" name="t208"/>
          <p:cNvSpPr txBox="1"/>
          <p:nvPr/>
        </p:nvSpPr>
        <p:spPr>
          <a:xfrm>
            <a:off x="4406900" y="2641600"/>
            <a:ext cx="3378200" cy="3352800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/>
          <a:p>
            <a:pPr marL="171450" indent="-171450">
              <a:buFont typeface="Arial"/>
              <a:buChar char="•"/>
            </a:pPr>
            <a:r>
              <a:rPr lang="es-CL" sz="1400" b="1" dirty="0"/>
              <a:t>Focal</a:t>
            </a:r>
            <a:r>
              <a:rPr lang="es-CL" sz="1400" dirty="0"/>
              <a:t> (α=0.25, γ=2): doma el fondo abundante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s-CL" sz="1400" b="1" dirty="0"/>
              <a:t>GIoU</a:t>
            </a:r>
            <a:r>
              <a:rPr lang="es-CL" sz="1400" dirty="0"/>
              <a:t>: solo puntos positivos; gradiente útil sin solape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s-CL" sz="1400" b="1" dirty="0"/>
              <a:t>Centerness</a:t>
            </a:r>
            <a:r>
              <a:rPr lang="es-CL" sz="1400" dirty="0"/>
              <a:t>: √(l/r · t/b), hunde cajas descentradas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s-CL" sz="1400" b="1" dirty="0"/>
              <a:t>SupCon</a:t>
            </a:r>
            <a:r>
              <a:rPr lang="es-CL" sz="1400" dirty="0"/>
              <a:t> (τ=0.07): compacta clases en la cola larga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es-CL" sz="1400" b="1" dirty="0">
                <a:solidFill>
                  <a:srgbClr val="A02B93"/>
                </a:solidFill>
              </a:rPr>
              <a:t>L = Focal + GIoU + BCE</a:t>
            </a:r>
            <a:r>
              <a:rPr lang="es-CL" sz="1000" b="1" dirty="0">
                <a:solidFill>
                  <a:srgbClr val="A02B93"/>
                </a:solidFill>
              </a:rPr>
              <a:t>ctr</a:t>
            </a:r>
            <a:r>
              <a:rPr lang="es-CL" sz="1400" b="1" dirty="0">
                <a:solidFill>
                  <a:srgbClr val="A02B93"/>
                </a:solidFill>
              </a:rPr>
              <a:t> + 0.1·SupCon</a:t>
            </a:r>
          </a:p>
        </p:txBody>
      </p:sp>
      <p:sp>
        <p:nvSpPr>
          <p:cNvPr id="208" name="r209"/>
          <p:cNvSpPr/>
          <p:nvPr/>
        </p:nvSpPr>
        <p:spPr>
          <a:xfrm>
            <a:off x="8102600" y="1905000"/>
            <a:ext cx="3530600" cy="533400"/>
          </a:xfrm>
          <a:prstGeom prst="roundRect">
            <a:avLst>
              <a:gd name="adj" fmla="val 6"/>
            </a:avLst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9" name="t210"/>
          <p:cNvSpPr txBox="1"/>
          <p:nvPr/>
        </p:nvSpPr>
        <p:spPr>
          <a:xfrm>
            <a:off x="8102600" y="1905000"/>
            <a:ext cx="3530600" cy="533400"/>
          </a:xfrm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buNone/>
            </a:pPr>
            <a:r>
              <a:rPr lang="es-CL" sz="1600" b="1" dirty="0">
                <a:solidFill>
                  <a:srgbClr val="FFFFFF"/>
                </a:solidFill>
              </a:rPr>
              <a:t>Post-proceso · inferencia</a:t>
            </a:r>
          </a:p>
        </p:txBody>
      </p:sp>
      <p:sp>
        <p:nvSpPr>
          <p:cNvPr id="210" name="r211"/>
          <p:cNvSpPr/>
          <p:nvPr/>
        </p:nvSpPr>
        <p:spPr>
          <a:xfrm>
            <a:off x="8102600" y="2514600"/>
            <a:ext cx="3530600" cy="3657600"/>
          </a:xfrm>
          <a:prstGeom prst="roundRect">
            <a:avLst>
              <a:gd name="adj" fmla="val 4"/>
            </a:avLst>
          </a:prstGeom>
          <a:solidFill>
            <a:srgbClr val="F4F7F9"/>
          </a:solidFill>
          <a:ln w="9525">
            <a:solidFill>
              <a:srgbClr val="D9E2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1" name="t212"/>
          <p:cNvSpPr txBox="1"/>
          <p:nvPr/>
        </p:nvSpPr>
        <p:spPr>
          <a:xfrm>
            <a:off x="8178800" y="2641600"/>
            <a:ext cx="3378200" cy="3352800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/>
          <a:p>
            <a:pPr marL="171450" indent="-171450">
              <a:buFont typeface="Arial"/>
              <a:buChar char="•"/>
            </a:pPr>
            <a:r>
              <a:rPr lang="es-CL" sz="1400" b="1" dirty="0"/>
              <a:t>Adaptive threshold</a:t>
            </a:r>
            <a:r>
              <a:rPr lang="es-CL" sz="1400" dirty="0"/>
              <a:t>: ≤50 cand.→0.05; densa→percentil 90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s-CL" sz="1400" b="1" dirty="0"/>
              <a:t>NMS estándar</a:t>
            </a:r>
            <a:r>
              <a:rPr lang="es-CL" sz="1400" dirty="0"/>
              <a:t> por clase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s-CL" sz="1400" b="1" dirty="0"/>
              <a:t>Context-aware NMS</a:t>
            </a:r>
            <a:r>
              <a:rPr lang="es-CL" sz="1400" dirty="0"/>
              <a:t>: cluster textura (≥4 dets, IoU&gt;0.20, spread&lt;0.15) → conserva sólo el top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s-CL" sz="1400" b="1" dirty="0"/>
              <a:t>Multi-query fusion</a:t>
            </a:r>
            <a:r>
              <a:rPr lang="es-CL" sz="1400" dirty="0"/>
              <a:t>: promedia N sketches de la clase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es-CL" sz="1300" i="1" dirty="0">
                <a:solidFill>
                  <a:srgbClr val="E97132"/>
                </a:solidFill>
              </a:rPr>
              <a:t>Menos falsos positivos en páginas densas</a:t>
            </a:r>
          </a:p>
        </p:txBody>
      </p:sp>
    </p:spTree>
    <p:extLst>
      <p:ext uri="{BB962C8B-B14F-4D97-AF65-F5344CB8AC3E}">
        <p14:creationId xmlns:p14="http://schemas.microsoft.com/office/powerpoint/2010/main" val="2345002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DF7CC7F-7627-B8C5-3381-A013D5BA92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7760" y="-182880"/>
            <a:ext cx="3383280" cy="338328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082E4E6-B447-CA58-0602-465E9AEE2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Setup experimental</a:t>
            </a:r>
          </a:p>
        </p:txBody>
      </p:sp>
      <p:sp>
        <p:nvSpPr>
          <p:cNvPr id="200" name="r201"/>
          <p:cNvSpPr/>
          <p:nvPr/>
        </p:nvSpPr>
        <p:spPr>
          <a:xfrm>
            <a:off x="419100" y="1752600"/>
            <a:ext cx="2667000" cy="1168400"/>
          </a:xfrm>
          <a:prstGeom prst="roundRect">
            <a:avLst>
              <a:gd name="adj" fmla="val 6"/>
            </a:avLst>
          </a:prstGeom>
          <a:solidFill>
            <a:srgbClr val="F4F7F9"/>
          </a:solidFill>
          <a:ln w="9525">
            <a:solidFill>
              <a:srgbClr val="D9E2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1" name="r202"/>
          <p:cNvSpPr/>
          <p:nvPr/>
        </p:nvSpPr>
        <p:spPr>
          <a:xfrm>
            <a:off x="419100" y="1752600"/>
            <a:ext cx="76200" cy="1168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t203"/>
          <p:cNvSpPr txBox="1"/>
          <p:nvPr/>
        </p:nvSpPr>
        <p:spPr>
          <a:xfrm>
            <a:off x="596900" y="1879600"/>
            <a:ext cx="2387600" cy="584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lang="es-CL" sz="2800" b="1" dirty="0">
                <a:solidFill>
                  <a:srgbClr val="156082"/>
                </a:solidFill>
              </a:rPr>
              <a:t>22</a:t>
            </a:r>
          </a:p>
        </p:txBody>
      </p:sp>
      <p:sp>
        <p:nvSpPr>
          <p:cNvPr id="203" name="t204"/>
          <p:cNvSpPr txBox="1"/>
          <p:nvPr/>
        </p:nvSpPr>
        <p:spPr>
          <a:xfrm>
            <a:off x="596900" y="2489200"/>
            <a:ext cx="2387600" cy="355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lang="es-CL" sz="1400" dirty="0">
                <a:solidFill>
                  <a:srgbClr val="5A6B78"/>
                </a:solidFill>
              </a:rPr>
              <a:t>clases</a:t>
            </a:r>
          </a:p>
        </p:txBody>
      </p:sp>
      <p:sp>
        <p:nvSpPr>
          <p:cNvPr id="204" name="r205"/>
          <p:cNvSpPr/>
          <p:nvPr/>
        </p:nvSpPr>
        <p:spPr>
          <a:xfrm>
            <a:off x="3314700" y="1752600"/>
            <a:ext cx="2667000" cy="1168400"/>
          </a:xfrm>
          <a:prstGeom prst="roundRect">
            <a:avLst>
              <a:gd name="adj" fmla="val 6"/>
            </a:avLst>
          </a:prstGeom>
          <a:solidFill>
            <a:srgbClr val="F4F7F9"/>
          </a:solidFill>
          <a:ln w="9525">
            <a:solidFill>
              <a:srgbClr val="D9E2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5" name="r206"/>
          <p:cNvSpPr/>
          <p:nvPr/>
        </p:nvSpPr>
        <p:spPr>
          <a:xfrm>
            <a:off x="3314700" y="1752600"/>
            <a:ext cx="76200" cy="11684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t207"/>
          <p:cNvSpPr txBox="1"/>
          <p:nvPr/>
        </p:nvSpPr>
        <p:spPr>
          <a:xfrm>
            <a:off x="3492500" y="1879600"/>
            <a:ext cx="2387600" cy="584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lang="es-CL" sz="2800" b="1" dirty="0">
                <a:solidFill>
                  <a:srgbClr val="0F9ED5"/>
                </a:solidFill>
              </a:rPr>
              <a:t>55</a:t>
            </a:r>
          </a:p>
        </p:txBody>
      </p:sp>
      <p:sp>
        <p:nvSpPr>
          <p:cNvPr id="207" name="t208"/>
          <p:cNvSpPr txBox="1"/>
          <p:nvPr/>
        </p:nvSpPr>
        <p:spPr>
          <a:xfrm>
            <a:off x="3492500" y="2489200"/>
            <a:ext cx="2387600" cy="355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lang="es-CL" sz="1400" dirty="0">
                <a:solidFill>
                  <a:srgbClr val="5A6B78"/>
                </a:solidFill>
              </a:rPr>
              <a:t>páginas (val)</a:t>
            </a:r>
          </a:p>
        </p:txBody>
      </p:sp>
      <p:sp>
        <p:nvSpPr>
          <p:cNvPr id="208" name="r209"/>
          <p:cNvSpPr/>
          <p:nvPr/>
        </p:nvSpPr>
        <p:spPr>
          <a:xfrm>
            <a:off x="6210300" y="1752600"/>
            <a:ext cx="2667000" cy="1168400"/>
          </a:xfrm>
          <a:prstGeom prst="roundRect">
            <a:avLst>
              <a:gd name="adj" fmla="val 6"/>
            </a:avLst>
          </a:prstGeom>
          <a:solidFill>
            <a:srgbClr val="F4F7F9"/>
          </a:solidFill>
          <a:ln w="9525">
            <a:solidFill>
              <a:srgbClr val="D9E2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9" name="r210"/>
          <p:cNvSpPr/>
          <p:nvPr/>
        </p:nvSpPr>
        <p:spPr>
          <a:xfrm>
            <a:off x="6210300" y="1752600"/>
            <a:ext cx="76200" cy="1168400"/>
          </a:xfrm>
          <a:prstGeom prst="rect">
            <a:avLst/>
          </a:prstGeom>
          <a:solidFill>
            <a:srgbClr val="A02B9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t211"/>
          <p:cNvSpPr txBox="1"/>
          <p:nvPr/>
        </p:nvSpPr>
        <p:spPr>
          <a:xfrm>
            <a:off x="6388100" y="1879600"/>
            <a:ext cx="2387600" cy="584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lang="es-CL" sz="2800" b="1" dirty="0">
                <a:solidFill>
                  <a:srgbClr val="A02B93"/>
                </a:solidFill>
              </a:rPr>
              <a:t>111</a:t>
            </a:r>
          </a:p>
        </p:txBody>
      </p:sp>
      <p:sp>
        <p:nvSpPr>
          <p:cNvPr id="211" name="t212"/>
          <p:cNvSpPr txBox="1"/>
          <p:nvPr/>
        </p:nvSpPr>
        <p:spPr>
          <a:xfrm>
            <a:off x="6388100" y="2489200"/>
            <a:ext cx="2387600" cy="355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lang="es-CL" sz="1400" dirty="0">
                <a:solidFill>
                  <a:srgbClr val="5A6B78"/>
                </a:solidFill>
              </a:rPr>
              <a:t>cajas GT</a:t>
            </a:r>
          </a:p>
        </p:txBody>
      </p:sp>
      <p:sp>
        <p:nvSpPr>
          <p:cNvPr id="212" name="r213"/>
          <p:cNvSpPr/>
          <p:nvPr/>
        </p:nvSpPr>
        <p:spPr>
          <a:xfrm>
            <a:off x="9105900" y="1752600"/>
            <a:ext cx="2667000" cy="1168400"/>
          </a:xfrm>
          <a:prstGeom prst="roundRect">
            <a:avLst>
              <a:gd name="adj" fmla="val 6"/>
            </a:avLst>
          </a:prstGeom>
          <a:solidFill>
            <a:srgbClr val="F4F7F9"/>
          </a:solidFill>
          <a:ln w="9525">
            <a:solidFill>
              <a:srgbClr val="D9E2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3" name="r214"/>
          <p:cNvSpPr/>
          <p:nvPr/>
        </p:nvSpPr>
        <p:spPr>
          <a:xfrm>
            <a:off x="9105900" y="1752600"/>
            <a:ext cx="76200" cy="11684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4" name="t215"/>
          <p:cNvSpPr txBox="1"/>
          <p:nvPr/>
        </p:nvSpPr>
        <p:spPr>
          <a:xfrm>
            <a:off x="9283700" y="1879600"/>
            <a:ext cx="2387600" cy="584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lang="es-CL" sz="2800" b="1" dirty="0">
                <a:solidFill>
                  <a:srgbClr val="E97132"/>
                </a:solidFill>
              </a:rPr>
              <a:t>105.9M</a:t>
            </a:r>
          </a:p>
        </p:txBody>
      </p:sp>
      <p:sp>
        <p:nvSpPr>
          <p:cNvPr id="215" name="t216"/>
          <p:cNvSpPr txBox="1"/>
          <p:nvPr/>
        </p:nvSpPr>
        <p:spPr>
          <a:xfrm>
            <a:off x="9283700" y="2489200"/>
            <a:ext cx="2387600" cy="355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lang="es-CL" sz="1400" dirty="0">
                <a:solidFill>
                  <a:srgbClr val="5A6B78"/>
                </a:solidFill>
              </a:rPr>
              <a:t>parámetros · 20.1M entren.</a:t>
            </a:r>
          </a:p>
        </p:txBody>
      </p:sp>
      <p:sp>
        <p:nvSpPr>
          <p:cNvPr id="216" name="r217"/>
          <p:cNvSpPr/>
          <p:nvPr/>
        </p:nvSpPr>
        <p:spPr>
          <a:xfrm>
            <a:off x="419100" y="3200400"/>
            <a:ext cx="5461000" cy="508000"/>
          </a:xfrm>
          <a:prstGeom prst="roundRect">
            <a:avLst>
              <a:gd name="adj" fmla="val 6"/>
            </a:avLst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7" name="t218"/>
          <p:cNvSpPr txBox="1"/>
          <p:nvPr/>
        </p:nvSpPr>
        <p:spPr>
          <a:xfrm>
            <a:off x="419100" y="3200400"/>
            <a:ext cx="5461000" cy="508000"/>
          </a:xfrm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buNone/>
            </a:pPr>
            <a:r>
              <a:rPr lang="es-CL" sz="1600" b="1" dirty="0">
                <a:solidFill>
                  <a:srgbClr val="FFFFFF"/>
                </a:solidFill>
              </a:rPr>
              <a:t>Protocolo de evaluación</a:t>
            </a:r>
          </a:p>
        </p:txBody>
      </p:sp>
      <p:sp>
        <p:nvSpPr>
          <p:cNvPr id="218" name="r219"/>
          <p:cNvSpPr/>
          <p:nvPr/>
        </p:nvSpPr>
        <p:spPr>
          <a:xfrm>
            <a:off x="419100" y="3784600"/>
            <a:ext cx="5461000" cy="2946400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9" name="t220"/>
          <p:cNvSpPr txBox="1"/>
          <p:nvPr/>
        </p:nvSpPr>
        <p:spPr>
          <a:xfrm>
            <a:off x="520700" y="3911600"/>
            <a:ext cx="5257800" cy="2641600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/>
          <a:p>
            <a:pPr marL="171450" indent="-171450">
              <a:buFont typeface="Arial"/>
              <a:buChar char="•"/>
            </a:pPr>
            <a:r>
              <a:rPr lang="es-CL" sz="1400" b="1" dirty="0"/>
              <a:t>Split validación</a:t>
            </a:r>
            <a:r>
              <a:rPr lang="es-CL" sz="1400" dirty="0"/>
              <a:t>: 55 páginas, 111 cajas GT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s-CL" sz="1400" b="1" dirty="0"/>
              <a:t>IoU = 0.50</a:t>
            </a:r>
            <a:r>
              <a:rPr lang="es-CL" sz="1400" dirty="0"/>
              <a:t> · score threshold = 0.25 (operating point, igual para ambos backbones)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s-CL" sz="1400" b="1" dirty="0"/>
              <a:t>Métricas</a:t>
            </a:r>
            <a:r>
              <a:rPr lang="es-CL" sz="1400" dirty="0"/>
              <a:t>: mAP, Precisión, Recall, F1 + AP por clase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s-CL" sz="1400" b="1" dirty="0"/>
              <a:t>7/22 clases ausentes</a:t>
            </a:r>
            <a:r>
              <a:rPr lang="es-CL" sz="1400" dirty="0"/>
              <a:t> del split → AP frágil (1–3 GT)</a:t>
            </a:r>
          </a:p>
        </p:txBody>
      </p:sp>
      <p:sp>
        <p:nvSpPr>
          <p:cNvPr id="220" name="r221"/>
          <p:cNvSpPr/>
          <p:nvPr/>
        </p:nvSpPr>
        <p:spPr>
          <a:xfrm>
            <a:off x="6311900" y="3200400"/>
            <a:ext cx="5461000" cy="508000"/>
          </a:xfrm>
          <a:prstGeom prst="roundRect">
            <a:avLst>
              <a:gd name="adj" fmla="val 6"/>
            </a:avLst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t222"/>
          <p:cNvSpPr txBox="1"/>
          <p:nvPr/>
        </p:nvSpPr>
        <p:spPr>
          <a:xfrm>
            <a:off x="6311900" y="3200400"/>
            <a:ext cx="5461000" cy="508000"/>
          </a:xfrm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buNone/>
            </a:pPr>
            <a:r>
              <a:rPr lang="es-CL" sz="1600" b="1" dirty="0">
                <a:solidFill>
                  <a:srgbClr val="FFFFFF"/>
                </a:solidFill>
              </a:rPr>
              <a:t>Entrenamiento</a:t>
            </a:r>
          </a:p>
        </p:txBody>
      </p:sp>
      <p:sp>
        <p:nvSpPr>
          <p:cNvPr id="222" name="r223"/>
          <p:cNvSpPr/>
          <p:nvPr/>
        </p:nvSpPr>
        <p:spPr>
          <a:xfrm>
            <a:off x="6311900" y="3784600"/>
            <a:ext cx="5461000" cy="2946400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3" name="t224"/>
          <p:cNvSpPr txBox="1"/>
          <p:nvPr/>
        </p:nvSpPr>
        <p:spPr>
          <a:xfrm>
            <a:off x="6413500" y="3911600"/>
            <a:ext cx="5257800" cy="2641600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/>
          <a:p>
            <a:pPr marL="171450" indent="-171450">
              <a:buFont typeface="Arial"/>
              <a:buChar char="•"/>
            </a:pPr>
            <a:r>
              <a:rPr lang="es-CL" sz="1400" b="1" dirty="0"/>
              <a:t>AdamW</a:t>
            </a:r>
            <a:r>
              <a:rPr lang="es-CL" sz="1400" dirty="0"/>
              <a:t> lr=1e-4, wd=1e-4 · cosine + warmup (5 ep)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s-CL" sz="1400" b="1" dirty="0"/>
              <a:t>80 épocas</a:t>
            </a:r>
            <a:r>
              <a:rPr lang="es-CL" sz="1400" dirty="0"/>
              <a:t> · batch 4 · AMP fp16 (ViT en fp32)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s-CL" sz="1400" b="1" dirty="0"/>
              <a:t>LR diferencial</a:t>
            </a:r>
            <a:r>
              <a:rPr lang="es-CL" sz="1400" dirty="0"/>
              <a:t>: cross_attn/refinement ×4, FiLM ×0.2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s-CL" sz="1400" b="1" dirty="0"/>
              <a:t>Semilla única (42)</a:t>
            </a:r>
            <a:r>
              <a:rPr lang="es-CL" sz="1400" dirty="0"/>
              <a:t> → sin estimación de varianza</a:t>
            </a:r>
          </a:p>
        </p:txBody>
      </p:sp>
    </p:spTree>
    <p:extLst>
      <p:ext uri="{BB962C8B-B14F-4D97-AF65-F5344CB8AC3E}">
        <p14:creationId xmlns:p14="http://schemas.microsoft.com/office/powerpoint/2010/main" val="2875712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3552C977-6C08-933C-FE7E-C7F284F08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8757" y="0"/>
            <a:ext cx="2218099" cy="22180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38AAE45-D655-3A31-4741-813B82222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Resultados globales: DINOv3 gana en todas las métricas</a:t>
            </a:r>
            <a:endParaRPr lang="es-CL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5CABA643-78F6-441A-8652-429185A399B9}"/>
              </a:ext>
            </a:extLst>
          </p:cNvPr>
          <p:cNvGraphicFramePr>
            <a:graphicFrameLocks noGrp="1"/>
          </p:cNvGraphicFramePr>
          <p:nvPr/>
        </p:nvGraphicFramePr>
        <p:xfrm>
          <a:off x="6654800" y="2489200"/>
          <a:ext cx="5029200" cy="29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68061423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55943295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85102978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410707149"/>
                    </a:ext>
                  </a:extLst>
                </a:gridCol>
              </a:tblGrid>
              <a:tr h="589280">
                <a:tc>
                  <a:txBody>
                    <a:bodyPr/>
                    <a:lstStyle/>
                    <a:p>
                      <a:pPr algn="l"/>
                      <a:r>
                        <a:rPr lang="es-CL" sz="15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Métrica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5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iDoc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5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DINOv3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5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Δ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454418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lang="es-CL" sz="1500" b="1">
                          <a:solidFill>
                            <a:srgbClr val="1A2733"/>
                          </a:solidFill>
                          <a:latin typeface="Segoe UI"/>
                          <a:cs typeface="Segoe UI"/>
                        </a:rPr>
                        <a:t>mAP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500">
                          <a:solidFill>
                            <a:srgbClr val="1A2733"/>
                          </a:solidFill>
                          <a:latin typeface="Segoe UI"/>
                          <a:cs typeface="Segoe UI"/>
                        </a:rPr>
                        <a:t>0.594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500" b="1">
                          <a:solidFill>
                            <a:srgbClr val="B5531A"/>
                          </a:solidFill>
                          <a:latin typeface="Segoe UI"/>
                          <a:cs typeface="Segoe UI"/>
                        </a:rPr>
                        <a:t>0.701</a:t>
                      </a:r>
                    </a:p>
                  </a:txBody>
                  <a:tcPr anchor="ctr">
                    <a:solidFill>
                      <a:srgbClr val="FCE7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500" b="1">
                          <a:solidFill>
                            <a:srgbClr val="196B24"/>
                          </a:solidFill>
                          <a:latin typeface="Segoe UI"/>
                          <a:cs typeface="Segoe UI"/>
                        </a:rPr>
                        <a:t>+0.107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675639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lang="es-CL" sz="1500" b="1">
                          <a:solidFill>
                            <a:srgbClr val="1A2733"/>
                          </a:solidFill>
                          <a:latin typeface="Segoe UI"/>
                          <a:cs typeface="Segoe UI"/>
                        </a:rPr>
                        <a:t>Precision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500">
                          <a:solidFill>
                            <a:srgbClr val="1A2733"/>
                          </a:solidFill>
                          <a:latin typeface="Segoe UI"/>
                          <a:cs typeface="Segoe UI"/>
                        </a:rPr>
                        <a:t>0.743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500" b="1">
                          <a:solidFill>
                            <a:srgbClr val="B5531A"/>
                          </a:solidFill>
                          <a:latin typeface="Segoe UI"/>
                          <a:cs typeface="Segoe UI"/>
                        </a:rPr>
                        <a:t>0.821</a:t>
                      </a:r>
                    </a:p>
                  </a:txBody>
                  <a:tcPr anchor="ctr">
                    <a:solidFill>
                      <a:srgbClr val="FCE7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500" b="1">
                          <a:solidFill>
                            <a:srgbClr val="196B24"/>
                          </a:solidFill>
                          <a:latin typeface="Segoe UI"/>
                          <a:cs typeface="Segoe UI"/>
                        </a:rPr>
                        <a:t>+0.077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326876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lang="es-CL" sz="1500" b="1">
                          <a:solidFill>
                            <a:srgbClr val="1A2733"/>
                          </a:solidFill>
                          <a:latin typeface="Segoe UI"/>
                          <a:cs typeface="Segoe UI"/>
                        </a:rPr>
                        <a:t>Recall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500">
                          <a:solidFill>
                            <a:srgbClr val="1A2733"/>
                          </a:solidFill>
                          <a:latin typeface="Segoe UI"/>
                          <a:cs typeface="Segoe UI"/>
                        </a:rPr>
                        <a:t>0.757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500" b="1">
                          <a:solidFill>
                            <a:srgbClr val="B5531A"/>
                          </a:solidFill>
                          <a:latin typeface="Segoe UI"/>
                          <a:cs typeface="Segoe UI"/>
                        </a:rPr>
                        <a:t>0.865</a:t>
                      </a:r>
                    </a:p>
                  </a:txBody>
                  <a:tcPr anchor="ctr">
                    <a:solidFill>
                      <a:srgbClr val="FCE7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500" b="1">
                          <a:solidFill>
                            <a:srgbClr val="196B24"/>
                          </a:solidFill>
                          <a:latin typeface="Segoe UI"/>
                          <a:cs typeface="Segoe UI"/>
                        </a:rPr>
                        <a:t>+0.108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63121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lang="es-CL" sz="1500" b="1">
                          <a:solidFill>
                            <a:srgbClr val="1A2733"/>
                          </a:solidFill>
                          <a:latin typeface="Segoe UI"/>
                          <a:cs typeface="Segoe UI"/>
                        </a:rPr>
                        <a:t>F1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500">
                          <a:solidFill>
                            <a:srgbClr val="1A2733"/>
                          </a:solidFill>
                          <a:latin typeface="Segoe UI"/>
                          <a:cs typeface="Segoe UI"/>
                        </a:rPr>
                        <a:t>0.750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500" b="1">
                          <a:solidFill>
                            <a:srgbClr val="B5531A"/>
                          </a:solidFill>
                          <a:latin typeface="Segoe UI"/>
                          <a:cs typeface="Segoe UI"/>
                        </a:rPr>
                        <a:t>0.842</a:t>
                      </a:r>
                    </a:p>
                  </a:txBody>
                  <a:tcPr anchor="ctr">
                    <a:solidFill>
                      <a:srgbClr val="FCE7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500" b="1">
                          <a:solidFill>
                            <a:srgbClr val="196B24"/>
                          </a:solidFill>
                          <a:latin typeface="Segoe UI"/>
                          <a:cs typeface="Segoe UI"/>
                        </a:rPr>
                        <a:t>+0.092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7575"/>
                  </a:ext>
                </a:extLst>
              </a:tr>
            </a:tbl>
          </a:graphicData>
        </a:graphic>
      </p:graphicFrame>
      <p:sp>
        <p:nvSpPr>
          <p:cNvPr id="500" name="r"/>
          <p:cNvSpPr/>
          <p:nvPr/>
        </p:nvSpPr>
        <p:spPr>
          <a:xfrm>
            <a:off x="558800" y="1905000"/>
            <a:ext cx="5791200" cy="2946400"/>
          </a:xfrm>
          <a:prstGeom prst="roundRect">
            <a:avLst>
              <a:gd name="adj" fmla="val 600"/>
            </a:avLst>
          </a:prstGeom>
          <a:solidFill>
            <a:srgbClr val="F4F7F9"/>
          </a:solidFill>
          <a:ln w="15875">
            <a:solidFill>
              <a:srgbClr val="9DB2BD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501" name="t"/>
          <p:cNvSpPr/>
          <p:nvPr/>
        </p:nvSpPr>
        <p:spPr>
          <a:xfrm>
            <a:off x="558800" y="1905000"/>
            <a:ext cx="5791200" cy="2946400"/>
          </a:xfrm>
          <a:prstGeom prst="rect">
            <a:avLst/>
          </a:prstGeom>
          <a:noFill/>
        </p:spPr>
        <p:txBody>
          <a:bodyPr wrap="square" lIns="64000" tIns="32000" rIns="64000" bIns="32000" anchor="ctr"/>
          <a:lstStyle/>
          <a:p>
            <a:pPr algn="ctr">
              <a:buNone/>
            </a:pPr>
            <a:r>
              <a:rPr lang="es-CL" sz="1700" b="1" dirty="0">
                <a:solidFill>
                  <a:srgbClr val="55707D"/>
                </a:solidFill>
              </a:rPr>
              <a:t>▣  Gráfico comparativo</a:t>
            </a:r>
          </a:p>
          <a:p>
            <a:pPr algn="ctr">
              <a:spcBef>
                <a:spcPts val="600"/>
              </a:spcBef>
              <a:buNone/>
            </a:pPr>
            <a:r>
              <a:rPr lang="es-CL" sz="1400" dirty="0">
                <a:solidFill>
                  <a:srgbClr val="7A8C95"/>
                </a:solidFill>
              </a:rPr>
              <a:t>Inserta aquí tu imagen</a:t>
            </a:r>
          </a:p>
          <a:p>
            <a:pPr algn="ctr">
              <a:spcBef>
                <a:spcPts val="300"/>
              </a:spcBef>
              <a:buNone/>
            </a:pPr>
            <a:r>
              <a:rPr lang="es-CL" sz="1300" dirty="0">
                <a:solidFill>
                  <a:srgbClr val="7A8C95"/>
                </a:solidFill>
              </a:rPr>
              <a:t>mAP · Precision · Recall · F1  —  iDoc vs DINOv3</a:t>
            </a:r>
          </a:p>
        </p:txBody>
      </p:sp>
      <p:sp>
        <p:nvSpPr>
          <p:cNvPr id="502" name="r"/>
          <p:cNvSpPr/>
          <p:nvPr/>
        </p:nvSpPr>
        <p:spPr>
          <a:xfrm>
            <a:off x="558800" y="5054600"/>
            <a:ext cx="5791200" cy="1168400"/>
          </a:xfrm>
          <a:prstGeom prst="roundRect">
            <a:avLst>
              <a:gd name="adj" fmla="val 300"/>
            </a:avLst>
          </a:prstGeom>
          <a:solidFill>
            <a:srgbClr val="0E284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" name="t"/>
          <p:cNvSpPr/>
          <p:nvPr/>
        </p:nvSpPr>
        <p:spPr>
          <a:xfrm>
            <a:off x="558800" y="5054600"/>
            <a:ext cx="5791200" cy="1168400"/>
          </a:xfrm>
          <a:prstGeom prst="rect">
            <a:avLst/>
          </a:prstGeom>
          <a:noFill/>
        </p:spPr>
        <p:txBody>
          <a:bodyPr wrap="square" lIns="64000" tIns="32000" rIns="64000" bIns="32000" anchor="ctr"/>
          <a:lstStyle/>
          <a:p>
            <a:pPr algn="l">
              <a:buNone/>
            </a:pPr>
            <a:r>
              <a:rPr lang="es-CL" sz="1500" b="1" dirty="0">
                <a:solidFill>
                  <a:srgbClr val="E97132"/>
                </a:solidFill>
              </a:rPr>
              <a:t>Δ mAP = +0.107.  </a:t>
            </a:r>
            <a:r>
              <a:rPr lang="es-CL" sz="1400" dirty="0">
                <a:solidFill>
                  <a:srgbClr val="FFFFFF"/>
                </a:solidFill>
              </a:rPr>
              <a:t>DINOv3 recorta falsos positivos (29→21) y negativos (27→15): +12 verdaderos positivos sobre 111 cajas.</a:t>
            </a:r>
          </a:p>
        </p:txBody>
      </p:sp>
      <p:sp>
        <p:nvSpPr>
          <p:cNvPr id="504" name="r"/>
          <p:cNvSpPr/>
          <p:nvPr/>
        </p:nvSpPr>
        <p:spPr>
          <a:xfrm>
            <a:off x="6654800" y="5588000"/>
            <a:ext cx="5029200" cy="635000"/>
          </a:xfrm>
          <a:prstGeom prst="roundRect">
            <a:avLst>
              <a:gd name="adj" fmla="val 200"/>
            </a:avLst>
          </a:prstGeom>
          <a:solidFill>
            <a:srgbClr val="EEF2F5"/>
          </a:solidFill>
          <a:ln w="9525">
            <a:solidFill>
              <a:srgbClr val="D6DE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5" name="t"/>
          <p:cNvSpPr/>
          <p:nvPr/>
        </p:nvSpPr>
        <p:spPr>
          <a:xfrm>
            <a:off x="6654800" y="5588000"/>
            <a:ext cx="5029200" cy="635000"/>
          </a:xfrm>
          <a:prstGeom prst="rect">
            <a:avLst/>
          </a:prstGeom>
          <a:noFill/>
        </p:spPr>
        <p:txBody>
          <a:bodyPr wrap="square" lIns="64000" tIns="32000" rIns="64000" bIns="32000" anchor="ctr"/>
          <a:lstStyle/>
          <a:p>
            <a:pPr algn="ctr">
              <a:buNone/>
            </a:pPr>
            <a:r>
              <a:rPr lang="es-CL" sz="1300" dirty="0">
                <a:solidFill>
                  <a:srgbClr val="1A2733"/>
                </a:solidFill>
              </a:rPr>
              <a:t>GT 111   ·   iDoc  TP 84 / FP 29 / FN 27   ·   </a:t>
            </a:r>
            <a:r>
              <a:rPr lang="es-CL" sz="1300" b="1" dirty="0">
                <a:solidFill>
                  <a:srgbClr val="B5531A"/>
                </a:solidFill>
              </a:rPr>
              <a:t>DINOv3  TP 96 / FP 21 / FN 15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4B78E82-CB7D-1471-58A9-AE24FE5034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50" y="1893888"/>
            <a:ext cx="6001299" cy="304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674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E8906F5-BEBE-22B3-DA19-F682D2D11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9758" y="28575"/>
            <a:ext cx="1972241" cy="197224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5C76E4-9ED9-4E29-C461-F96EEEE60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AP por clase: dónde se concentra la ventaja</a:t>
            </a:r>
            <a:endParaRPr lang="es-CL" dirty="0"/>
          </a:p>
        </p:txBody>
      </p:sp>
      <p:sp>
        <p:nvSpPr>
          <p:cNvPr id="500" name="r"/>
          <p:cNvSpPr/>
          <p:nvPr/>
        </p:nvSpPr>
        <p:spPr>
          <a:xfrm>
            <a:off x="558800" y="1905000"/>
            <a:ext cx="5588000" cy="3784600"/>
          </a:xfrm>
          <a:prstGeom prst="roundRect">
            <a:avLst>
              <a:gd name="adj" fmla="val 500"/>
            </a:avLst>
          </a:prstGeom>
          <a:solidFill>
            <a:srgbClr val="F4F7F9"/>
          </a:solidFill>
          <a:ln w="15875">
            <a:solidFill>
              <a:srgbClr val="9DB2BD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501" name="t"/>
          <p:cNvSpPr/>
          <p:nvPr/>
        </p:nvSpPr>
        <p:spPr>
          <a:xfrm>
            <a:off x="558800" y="1905000"/>
            <a:ext cx="5588000" cy="3784600"/>
          </a:xfrm>
          <a:prstGeom prst="rect">
            <a:avLst/>
          </a:prstGeom>
          <a:noFill/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es-CL" sz="1700" b="1" dirty="0">
                <a:solidFill>
                  <a:srgbClr val="55707D"/>
                </a:solidFill>
              </a:rPr>
              <a:t>▣  AP por clase</a:t>
            </a:r>
          </a:p>
          <a:p>
            <a:pPr algn="ctr">
              <a:spcBef>
                <a:spcPts val="600"/>
              </a:spcBef>
              <a:buNone/>
            </a:pPr>
            <a:r>
              <a:rPr lang="es-CL" sz="1400" dirty="0">
                <a:solidFill>
                  <a:srgbClr val="7A8C95"/>
                </a:solidFill>
              </a:rPr>
              <a:t>Inserta aquí tu gráfico</a:t>
            </a:r>
          </a:p>
          <a:p>
            <a:pPr algn="ctr">
              <a:spcBef>
                <a:spcPts val="300"/>
              </a:spcBef>
              <a:buNone/>
            </a:pPr>
            <a:r>
              <a:rPr lang="es-CL" sz="1300" dirty="0">
                <a:solidFill>
                  <a:srgbClr val="7A8C95"/>
                </a:solidFill>
              </a:rPr>
              <a:t>Δ AP por clase  ·  iDoc vs DINOv3</a:t>
            </a:r>
          </a:p>
        </p:txBody>
      </p:sp>
      <p:sp>
        <p:nvSpPr>
          <p:cNvPr id="502" name="r"/>
          <p:cNvSpPr/>
          <p:nvPr/>
        </p:nvSpPr>
        <p:spPr>
          <a:xfrm>
            <a:off x="6426200" y="1905000"/>
            <a:ext cx="5257800" cy="1752600"/>
          </a:xfrm>
          <a:prstGeom prst="roundRect">
            <a:avLst>
              <a:gd name="adj" fmla="val 300"/>
            </a:avLst>
          </a:prstGeom>
          <a:solidFill>
            <a:srgbClr val="FFFFFF"/>
          </a:solidFill>
          <a:ln w="9525">
            <a:solidFill>
              <a:srgbClr val="E3E8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3" name="r"/>
          <p:cNvSpPr/>
          <p:nvPr/>
        </p:nvSpPr>
        <p:spPr>
          <a:xfrm>
            <a:off x="6426200" y="1905000"/>
            <a:ext cx="5257800" cy="4826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" name="t"/>
          <p:cNvSpPr/>
          <p:nvPr/>
        </p:nvSpPr>
        <p:spPr>
          <a:xfrm>
            <a:off x="6426200" y="1905000"/>
            <a:ext cx="5257800" cy="482600"/>
          </a:xfrm>
          <a:prstGeom prst="rect">
            <a:avLst/>
          </a:prstGeom>
          <a:noFill/>
        </p:spPr>
        <p:txBody>
          <a:bodyPr wrap="square" lIns="72000" tIns="36000" rIns="72000" bIns="36000" anchor="ctr"/>
          <a:lstStyle/>
          <a:p>
            <a:pPr algn="l">
              <a:buNone/>
            </a:pPr>
            <a:r>
              <a:rPr lang="es-CL" sz="1500" b="1" dirty="0">
                <a:solidFill>
                  <a:srgbClr val="FFFFFF"/>
                </a:solidFill>
              </a:rPr>
              <a:t>Ventaja por clase</a:t>
            </a:r>
          </a:p>
        </p:txBody>
      </p:sp>
      <p:sp>
        <p:nvSpPr>
          <p:cNvPr id="505" name="t"/>
          <p:cNvSpPr/>
          <p:nvPr/>
        </p:nvSpPr>
        <p:spPr>
          <a:xfrm>
            <a:off x="6553200" y="2438400"/>
            <a:ext cx="5003800" cy="1168400"/>
          </a:xfrm>
          <a:prstGeom prst="rect">
            <a:avLst/>
          </a:prstGeom>
          <a:noFill/>
        </p:spPr>
        <p:txBody>
          <a:bodyPr wrap="square" lIns="72000" tIns="36000" rIns="72000" bIns="36000" anchor="t"/>
          <a:lstStyle/>
          <a:p>
            <a:pPr algn="l">
              <a:buNone/>
            </a:pPr>
            <a:r>
              <a:rPr lang="es-CL" sz="1500" b="1" dirty="0">
                <a:solidFill>
                  <a:srgbClr val="0E2841"/>
                </a:solidFill>
              </a:rPr>
              <a:t>DINOv3 gana 7   ·   iDoc 4   ·   empate 4</a:t>
            </a:r>
          </a:p>
          <a:p>
            <a:pPr algn="l">
              <a:spcBef>
                <a:spcPts val="500"/>
              </a:spcBef>
              <a:buNone/>
            </a:pPr>
            <a:r>
              <a:rPr lang="es-CL" sz="1350" b="1" dirty="0">
                <a:solidFill>
                  <a:srgbClr val="B5531A"/>
                </a:solidFill>
              </a:rPr>
              <a:t>Mayores saltos (Δ AP): </a:t>
            </a:r>
            <a:r>
              <a:rPr lang="es-CL" sz="1350" dirty="0">
                <a:solidFill>
                  <a:srgbClr val="1A2733"/>
                </a:solidFill>
              </a:rPr>
              <a:t>obj_39 +0.55, obj_42 +0.45, status +0.27, S +0.23</a:t>
            </a:r>
          </a:p>
          <a:p>
            <a:pPr algn="l">
              <a:spcBef>
                <a:spcPts val="300"/>
              </a:spcBef>
              <a:buNone/>
            </a:pPr>
            <a:r>
              <a:rPr lang="es-CL" sz="1350" b="1" dirty="0">
                <a:solidFill>
                  <a:srgbClr val="156082"/>
                </a:solidFill>
              </a:rPr>
              <a:t>iDoc conserva: </a:t>
            </a:r>
            <a:r>
              <a:rPr lang="es-CL" sz="1350" dirty="0">
                <a:solidFill>
                  <a:srgbClr val="1A2733"/>
                </a:solidFill>
              </a:rPr>
              <a:t>obj_37, obj_34, BP, marqeur</a:t>
            </a:r>
          </a:p>
        </p:txBody>
      </p:sp>
      <p:sp>
        <p:nvSpPr>
          <p:cNvPr id="506" name="r"/>
          <p:cNvSpPr/>
          <p:nvPr/>
        </p:nvSpPr>
        <p:spPr>
          <a:xfrm>
            <a:off x="6426200" y="3810000"/>
            <a:ext cx="5257800" cy="1879600"/>
          </a:xfrm>
          <a:prstGeom prst="roundRect">
            <a:avLst>
              <a:gd name="adj" fmla="val 300"/>
            </a:avLst>
          </a:prstGeom>
          <a:solidFill>
            <a:srgbClr val="FFFFFF"/>
          </a:solidFill>
          <a:ln w="9525">
            <a:solidFill>
              <a:srgbClr val="E3E8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7" name="r"/>
          <p:cNvSpPr/>
          <p:nvPr/>
        </p:nvSpPr>
        <p:spPr>
          <a:xfrm>
            <a:off x="6426200" y="3810000"/>
            <a:ext cx="5257800" cy="4826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8" name="t"/>
          <p:cNvSpPr/>
          <p:nvPr/>
        </p:nvSpPr>
        <p:spPr>
          <a:xfrm>
            <a:off x="6426200" y="3810000"/>
            <a:ext cx="5257800" cy="482600"/>
          </a:xfrm>
          <a:prstGeom prst="rect">
            <a:avLst/>
          </a:prstGeom>
          <a:noFill/>
        </p:spPr>
        <p:txBody>
          <a:bodyPr wrap="square" lIns="72000" tIns="36000" rIns="72000" bIns="36000" anchor="ctr"/>
          <a:lstStyle/>
          <a:p>
            <a:pPr algn="l">
              <a:buNone/>
            </a:pPr>
            <a:r>
              <a:rPr lang="es-CL" sz="1500" b="1" dirty="0">
                <a:solidFill>
                  <a:srgbClr val="FFFFFF"/>
                </a:solidFill>
              </a:rPr>
              <a:t>Lectura y límites</a:t>
            </a:r>
          </a:p>
        </p:txBody>
      </p:sp>
      <p:sp>
        <p:nvSpPr>
          <p:cNvPr id="509" name="t"/>
          <p:cNvSpPr/>
          <p:nvPr/>
        </p:nvSpPr>
        <p:spPr>
          <a:xfrm>
            <a:off x="6553200" y="4343400"/>
            <a:ext cx="5003800" cy="1295400"/>
          </a:xfrm>
          <a:prstGeom prst="rect">
            <a:avLst/>
          </a:prstGeom>
          <a:noFill/>
        </p:spPr>
        <p:txBody>
          <a:bodyPr wrap="square" lIns="72000" tIns="36000" rIns="72000" bIns="36000" anchor="t"/>
          <a:lstStyle/>
          <a:p>
            <a:pPr marL="200000" indent="-200000" algn="l">
              <a:buFont typeface="Arial"/>
              <a:buChar char="•"/>
            </a:pPr>
            <a:r>
              <a:rPr lang="es-CL" sz="1300" dirty="0">
                <a:solidFill>
                  <a:srgbClr val="1A2733"/>
                </a:solidFill>
              </a:rPr>
              <a:t>Como extractor frozen, la amplitud del pre-entrenamiento masivo transfiere mejor que la especialización de iDoc — sobre todo en clases raras.</a:t>
            </a:r>
          </a:p>
          <a:p>
            <a:pPr marL="200000" indent="-200000" algn="l">
              <a:spcBef>
                <a:spcPts val="300"/>
              </a:spcBef>
              <a:buFont typeface="Arial"/>
              <a:buChar char="•"/>
            </a:pPr>
            <a:r>
              <a:rPr lang="es-CL" sz="1300" dirty="0">
                <a:solidFill>
                  <a:srgbClr val="1A2733"/>
                </a:solidFill>
              </a:rPr>
              <a:t>Límites: val chico (55 págs / 111 cajas), 1 semilla, 7/22 clases ausentes, AP frágil con 1–3 GT.</a:t>
            </a:r>
          </a:p>
          <a:p>
            <a:pPr marL="200000" indent="-200000" algn="l">
              <a:spcBef>
                <a:spcPts val="300"/>
              </a:spcBef>
              <a:buFont typeface="Arial"/>
              <a:buChar char="•"/>
            </a:pPr>
            <a:r>
              <a:rPr lang="es-CL" sz="1300" dirty="0">
                <a:solidFill>
                  <a:srgbClr val="1A2733"/>
                </a:solidFill>
              </a:rPr>
              <a:t>Mitigación: cross-validation estratificada + ablaciones empíricas.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7BD7B8B-A03B-1F9E-8E28-C3D9643AF4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23" y="1690688"/>
            <a:ext cx="6303277" cy="4709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33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E9559BD-B890-32B7-0F81-8CBE62DDEE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2061" y="0"/>
            <a:ext cx="1989939" cy="198993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39331BA-DDB2-4C64-69A0-7801DE3BD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Conclusiones</a:t>
            </a:r>
          </a:p>
        </p:txBody>
      </p:sp>
      <p:sp>
        <p:nvSpPr>
          <p:cNvPr id="500" name="r"/>
          <p:cNvSpPr/>
          <p:nvPr/>
        </p:nvSpPr>
        <p:spPr>
          <a:xfrm>
            <a:off x="558800" y="1879600"/>
            <a:ext cx="11074400" cy="965200"/>
          </a:xfrm>
          <a:prstGeom prst="roundRect">
            <a:avLst>
              <a:gd name="adj" fmla="val 150"/>
            </a:avLst>
          </a:prstGeom>
          <a:solidFill>
            <a:srgbClr val="F7F9FA"/>
          </a:solidFill>
          <a:ln w="9525">
            <a:solidFill>
              <a:srgbClr val="E3E8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1" name="r"/>
          <p:cNvSpPr/>
          <p:nvPr/>
        </p:nvSpPr>
        <p:spPr>
          <a:xfrm>
            <a:off x="558800" y="1879600"/>
            <a:ext cx="114300" cy="9652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" name="t"/>
          <p:cNvSpPr/>
          <p:nvPr/>
        </p:nvSpPr>
        <p:spPr>
          <a:xfrm>
            <a:off x="889000" y="1879600"/>
            <a:ext cx="2667000" cy="965200"/>
          </a:xfrm>
          <a:prstGeom prst="rect">
            <a:avLst/>
          </a:prstGeom>
          <a:noFill/>
        </p:spPr>
        <p:txBody>
          <a:bodyPr wrap="square" lIns="64000" tIns="20000" rIns="64000" bIns="20000" anchor="ctr"/>
          <a:lstStyle/>
          <a:p>
            <a:pPr algn="l">
              <a:buNone/>
            </a:pPr>
            <a:r>
              <a:rPr lang="es-CL" sz="1900" b="1" dirty="0">
                <a:solidFill>
                  <a:srgbClr val="156082"/>
                </a:solidFill>
              </a:rPr>
              <a:t>Arquitectura</a:t>
            </a:r>
          </a:p>
        </p:txBody>
      </p:sp>
      <p:sp>
        <p:nvSpPr>
          <p:cNvPr id="503" name="t"/>
          <p:cNvSpPr/>
          <p:nvPr/>
        </p:nvSpPr>
        <p:spPr>
          <a:xfrm>
            <a:off x="3632200" y="1879600"/>
            <a:ext cx="7924800" cy="965200"/>
          </a:xfrm>
          <a:prstGeom prst="rect">
            <a:avLst/>
          </a:prstGeom>
          <a:noFill/>
        </p:spPr>
        <p:txBody>
          <a:bodyPr wrap="square" lIns="64000" tIns="20000" rIns="64000" bIns="20000" anchor="ctr"/>
          <a:lstStyle/>
          <a:p>
            <a:pPr algn="l">
              <a:buNone/>
            </a:pPr>
            <a:r>
              <a:rPr lang="es-CL" sz="1450" dirty="0">
                <a:solidFill>
                  <a:srgbClr val="1A2733"/>
                </a:solidFill>
              </a:rPr>
              <a:t>ViT frozen multiescala + FCOS condicionado por sketch (FiLM «qué» + Co-Attention «dónde»). Solo ~20 M de ~106 M parámetros son entrenables.</a:t>
            </a:r>
          </a:p>
        </p:txBody>
      </p:sp>
      <p:sp>
        <p:nvSpPr>
          <p:cNvPr id="504" name="r"/>
          <p:cNvSpPr/>
          <p:nvPr/>
        </p:nvSpPr>
        <p:spPr>
          <a:xfrm>
            <a:off x="558800" y="2997200"/>
            <a:ext cx="11074400" cy="965200"/>
          </a:xfrm>
          <a:prstGeom prst="roundRect">
            <a:avLst>
              <a:gd name="adj" fmla="val 150"/>
            </a:avLst>
          </a:prstGeom>
          <a:solidFill>
            <a:srgbClr val="F7F9FA"/>
          </a:solidFill>
          <a:ln w="9525">
            <a:solidFill>
              <a:srgbClr val="E3E8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5" name="r"/>
          <p:cNvSpPr/>
          <p:nvPr/>
        </p:nvSpPr>
        <p:spPr>
          <a:xfrm>
            <a:off x="558800" y="2997200"/>
            <a:ext cx="114300" cy="9652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6" name="t"/>
          <p:cNvSpPr/>
          <p:nvPr/>
        </p:nvSpPr>
        <p:spPr>
          <a:xfrm>
            <a:off x="889000" y="2997200"/>
            <a:ext cx="2667000" cy="965200"/>
          </a:xfrm>
          <a:prstGeom prst="rect">
            <a:avLst/>
          </a:prstGeom>
          <a:noFill/>
        </p:spPr>
        <p:txBody>
          <a:bodyPr wrap="square" lIns="64000" tIns="20000" rIns="64000" bIns="20000" anchor="ctr"/>
          <a:lstStyle/>
          <a:p>
            <a:pPr algn="l">
              <a:buNone/>
            </a:pPr>
            <a:r>
              <a:rPr lang="es-CL" sz="1900" b="1" dirty="0">
                <a:solidFill>
                  <a:srgbClr val="E97132"/>
                </a:solidFill>
              </a:rPr>
              <a:t>Resultado</a:t>
            </a:r>
          </a:p>
        </p:txBody>
      </p:sp>
      <p:sp>
        <p:nvSpPr>
          <p:cNvPr id="507" name="t"/>
          <p:cNvSpPr/>
          <p:nvPr/>
        </p:nvSpPr>
        <p:spPr>
          <a:xfrm>
            <a:off x="3632200" y="2997200"/>
            <a:ext cx="7924800" cy="965200"/>
          </a:xfrm>
          <a:prstGeom prst="rect">
            <a:avLst/>
          </a:prstGeom>
          <a:noFill/>
        </p:spPr>
        <p:txBody>
          <a:bodyPr wrap="square" lIns="64000" tIns="20000" rIns="64000" bIns="20000" anchor="ctr"/>
          <a:lstStyle/>
          <a:p>
            <a:pPr algn="l">
              <a:buNone/>
            </a:pPr>
            <a:r>
              <a:rPr lang="es-CL" sz="1450" dirty="0">
                <a:solidFill>
                  <a:srgbClr val="1A2733"/>
                </a:solidFill>
              </a:rPr>
              <a:t>DINOv3 supera a iDoc en todas las métricas globales (mAP +0.107, F1 +0.092); la ventaja se concentra en las clases raras.</a:t>
            </a:r>
          </a:p>
        </p:txBody>
      </p:sp>
      <p:sp>
        <p:nvSpPr>
          <p:cNvPr id="508" name="r"/>
          <p:cNvSpPr/>
          <p:nvPr/>
        </p:nvSpPr>
        <p:spPr>
          <a:xfrm>
            <a:off x="558800" y="4114800"/>
            <a:ext cx="11074400" cy="965200"/>
          </a:xfrm>
          <a:prstGeom prst="roundRect">
            <a:avLst>
              <a:gd name="adj" fmla="val 150"/>
            </a:avLst>
          </a:prstGeom>
          <a:solidFill>
            <a:srgbClr val="F7F9FA"/>
          </a:solidFill>
          <a:ln w="9525">
            <a:solidFill>
              <a:srgbClr val="E3E8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9" name="r"/>
          <p:cNvSpPr/>
          <p:nvPr/>
        </p:nvSpPr>
        <p:spPr>
          <a:xfrm>
            <a:off x="558800" y="4114800"/>
            <a:ext cx="114300" cy="96520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0" name="t"/>
          <p:cNvSpPr/>
          <p:nvPr/>
        </p:nvSpPr>
        <p:spPr>
          <a:xfrm>
            <a:off x="889000" y="4114800"/>
            <a:ext cx="2667000" cy="965200"/>
          </a:xfrm>
          <a:prstGeom prst="rect">
            <a:avLst/>
          </a:prstGeom>
          <a:noFill/>
        </p:spPr>
        <p:txBody>
          <a:bodyPr wrap="square" lIns="64000" tIns="20000" rIns="64000" bIns="20000" anchor="ctr"/>
          <a:lstStyle/>
          <a:p>
            <a:pPr algn="l">
              <a:buNone/>
            </a:pPr>
            <a:r>
              <a:rPr lang="es-CL" sz="1900" b="1" dirty="0">
                <a:solidFill>
                  <a:srgbClr val="196B24"/>
                </a:solidFill>
              </a:rPr>
              <a:t>Aporte</a:t>
            </a:r>
          </a:p>
        </p:txBody>
      </p:sp>
      <p:sp>
        <p:nvSpPr>
          <p:cNvPr id="511" name="t"/>
          <p:cNvSpPr/>
          <p:nvPr/>
        </p:nvSpPr>
        <p:spPr>
          <a:xfrm>
            <a:off x="3632200" y="4114800"/>
            <a:ext cx="7924800" cy="965200"/>
          </a:xfrm>
          <a:prstGeom prst="rect">
            <a:avLst/>
          </a:prstGeom>
          <a:noFill/>
        </p:spPr>
        <p:txBody>
          <a:bodyPr wrap="square" lIns="64000" tIns="20000" rIns="64000" bIns="20000" anchor="ctr"/>
          <a:lstStyle/>
          <a:p>
            <a:pPr algn="l">
              <a:buNone/>
            </a:pPr>
            <a:r>
              <a:rPr lang="es-CL" sz="1450" dirty="0">
                <a:solidFill>
                  <a:srgbClr val="1A2733"/>
                </a:solidFill>
              </a:rPr>
              <a:t>Recetas para cola larga (SupCon, copy-paste, multi-query) y para páginas densas (adaptive threshold + context-aware NMS).</a:t>
            </a:r>
          </a:p>
        </p:txBody>
      </p:sp>
      <p:sp>
        <p:nvSpPr>
          <p:cNvPr id="512" name="r"/>
          <p:cNvSpPr/>
          <p:nvPr/>
        </p:nvSpPr>
        <p:spPr>
          <a:xfrm>
            <a:off x="558800" y="5283200"/>
            <a:ext cx="11074400" cy="1066800"/>
          </a:xfrm>
          <a:prstGeom prst="roundRect">
            <a:avLst>
              <a:gd name="adj" fmla="val 150"/>
            </a:avLst>
          </a:prstGeom>
          <a:solidFill>
            <a:srgbClr val="0E284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3" name="t"/>
          <p:cNvSpPr/>
          <p:nvPr/>
        </p:nvSpPr>
        <p:spPr>
          <a:xfrm>
            <a:off x="812800" y="5283200"/>
            <a:ext cx="10566400" cy="1066800"/>
          </a:xfrm>
          <a:prstGeom prst="rect">
            <a:avLst/>
          </a:prstGeom>
          <a:noFill/>
        </p:spPr>
        <p:txBody>
          <a:bodyPr wrap="square" lIns="64000" tIns="20000" rIns="64000" bIns="20000" anchor="ctr"/>
          <a:lstStyle/>
          <a:p>
            <a:pPr algn="l">
              <a:buNone/>
            </a:pPr>
            <a:r>
              <a:rPr lang="es-CL" sz="1500" b="1" dirty="0">
                <a:solidFill>
                  <a:srgbClr val="E97132"/>
                </a:solidFill>
              </a:rPr>
              <a:t>Próximos pasos:  </a:t>
            </a:r>
            <a:r>
              <a:rPr lang="es-CL" sz="1400" dirty="0">
                <a:solidFill>
                  <a:srgbClr val="FFFFFF"/>
                </a:solidFill>
              </a:rPr>
              <a:t>cross-validation estratificada · ablaciones empíricas (SupCon, co-attention) · corregir bugs conocidos (start_level, refinement en Fase 1) · exponer params de query-augmentation.</a:t>
            </a:r>
          </a:p>
        </p:txBody>
      </p:sp>
    </p:spTree>
    <p:extLst>
      <p:ext uri="{BB962C8B-B14F-4D97-AF65-F5344CB8AC3E}">
        <p14:creationId xmlns:p14="http://schemas.microsoft.com/office/powerpoint/2010/main" val="3821267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 [1782248895556]">
  <a:themeElements>
    <a:clrScheme name="Office">
      <a:dk1>
        <a:srgbClr val="1A2733"/>
      </a:dk1>
      <a:lt1>
        <a:srgbClr val="FFFFFF"/>
      </a:lt1>
      <a:dk2>
        <a:srgbClr val="0E2841"/>
      </a:dk2>
      <a:lt2>
        <a:srgbClr val="EEF2F5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Georg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299DB05-6AFB-4FA2-82C6-123EA2750D1F}">
  <we:reference id="wa200010001" version="1.0.0.1" store="es-ES" storeType="OMEX"/>
  <we:alternateReferences>
    <we:reference id="WA200010001" version="1.0.0.1" store="" storeType="OMEX"/>
  </we:alternateReferences>
  <we:properties>
    <we:property name="claude.fileId" value="&quot;aab17e3f-841d-4026-8c81-fb6ac6fbfa8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1079</Words>
  <Application>Microsoft Office PowerPoint</Application>
  <PresentationFormat>Panorámica</PresentationFormat>
  <Paragraphs>136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Consolas</vt:lpstr>
      <vt:lpstr>Georgia</vt:lpstr>
      <vt:lpstr>Segoe UI</vt:lpstr>
      <vt:lpstr>Tema de Office [1782248895556]</vt:lpstr>
      <vt:lpstr>Detección de patrones gráficos en documentos históricos condicionada por sketch</vt:lpstr>
      <vt:lpstr>Tres desafíos del dominio</vt:lpstr>
      <vt:lpstr>Visión general del sistema</vt:lpstr>
      <vt:lpstr>Backbone: un ViT frozen que finge ser multiescala</vt:lpstr>
      <vt:lpstr>Condicionamiento por sketch: dos vías complementarias</vt:lpstr>
      <vt:lpstr>Cabeza FCOS, pérdidas y post-proceso</vt:lpstr>
      <vt:lpstr>Setup experimental</vt:lpstr>
      <vt:lpstr>Resultados globales: DINOv3 gana en todas las métricas</vt:lpstr>
      <vt:lpstr>AP por clase: dónde se concentra la ventaja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BERNARDO CAPRILE</dc:creator>
  <cp:lastModifiedBy>BERNARDO CAPRILE</cp:lastModifiedBy>
  <cp:revision>3</cp:revision>
  <dcterms:created xsi:type="dcterms:W3CDTF">2026-06-23T21:08:15Z</dcterms:created>
  <dcterms:modified xsi:type="dcterms:W3CDTF">2026-06-24T20:13:48Z</dcterms:modified>
</cp:coreProperties>
</file>